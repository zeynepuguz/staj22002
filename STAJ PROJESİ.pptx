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PT Sans Narrow"/>
      <p:regular r:id="rId34"/>
      <p:bold r:id="rId35"/>
    </p:embeddedFont>
    <p:embeddedFont>
      <p:font typeface="Open Sans"/>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PTSansNarrow-bold.fntdata"/><Relationship Id="rId12" Type="http://schemas.openxmlformats.org/officeDocument/2006/relationships/slide" Target="slides/slide7.xml"/><Relationship Id="rId34" Type="http://schemas.openxmlformats.org/officeDocument/2006/relationships/font" Target="fonts/PTSansNarrow-regular.fntdata"/><Relationship Id="rId15" Type="http://schemas.openxmlformats.org/officeDocument/2006/relationships/slide" Target="slides/slide10.xml"/><Relationship Id="rId37" Type="http://schemas.openxmlformats.org/officeDocument/2006/relationships/font" Target="fonts/OpenSans-bold.fntdata"/><Relationship Id="rId14" Type="http://schemas.openxmlformats.org/officeDocument/2006/relationships/slide" Target="slides/slide9.xml"/><Relationship Id="rId36" Type="http://schemas.openxmlformats.org/officeDocument/2006/relationships/font" Target="fonts/OpenSans-regular.fntdata"/><Relationship Id="rId17" Type="http://schemas.openxmlformats.org/officeDocument/2006/relationships/slide" Target="slides/slide12.xml"/><Relationship Id="rId39" Type="http://schemas.openxmlformats.org/officeDocument/2006/relationships/font" Target="fonts/OpenSans-boldItalic.fntdata"/><Relationship Id="rId16" Type="http://schemas.openxmlformats.org/officeDocument/2006/relationships/slide" Target="slides/slide11.xml"/><Relationship Id="rId38" Type="http://schemas.openxmlformats.org/officeDocument/2006/relationships/font" Target="fonts/OpenSans-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7a876c8833_0_4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7a876c8833_0_4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7a876c8833_0_2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7a876c8833_0_2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7a876c8833_0_29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7a876c8833_0_29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7a876c8833_0_29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7a876c8833_0_29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7a876c8833_0_30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7a876c8833_0_30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7a876c8833_0_30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7a876c8833_0_30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7a876c883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7a876c883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7a876c8833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7a876c8833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7a876c8833_0_30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7a876c8833_0_30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7a876c8833_1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7a876c8833_1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7a876c8833_1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7a876c8833_1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7a876c8833_0_30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7a876c8833_0_30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7a876c8833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7a876c8833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7a876c8833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7a876c8833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a876c8833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7a876c8833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7a876c8833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7a876c8833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7a876c8833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7a876c8833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7a876c8833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7a876c8833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7a876c8833_1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7a876c8833_1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7a876c8833_1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7a876c8833_1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7a876c8833_1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7a876c8833_1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7a876c8833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7a876c8833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7a876c8833_1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7a876c8833_1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7a876c8833_1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7a876c8833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7a876c8833_1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7a876c8833_1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7a876c8833_1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7a876c8833_1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7a876c8833_1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7a876c8833_1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t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t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747825" y="1241850"/>
            <a:ext cx="7492500" cy="79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tr" sz="4660">
                <a:solidFill>
                  <a:srgbClr val="4A86E8"/>
                </a:solidFill>
                <a:latin typeface="Times New Roman"/>
                <a:ea typeface="Times New Roman"/>
                <a:cs typeface="Times New Roman"/>
                <a:sym typeface="Times New Roman"/>
              </a:rPr>
              <a:t>İNOSENS </a:t>
            </a:r>
            <a:r>
              <a:rPr lang="tr" sz="4660">
                <a:solidFill>
                  <a:srgbClr val="4A86E8"/>
                </a:solidFill>
                <a:latin typeface="Times New Roman"/>
                <a:ea typeface="Times New Roman"/>
                <a:cs typeface="Times New Roman"/>
                <a:sym typeface="Times New Roman"/>
              </a:rPr>
              <a:t>STAJ PROJESİ </a:t>
            </a:r>
            <a:endParaRPr sz="4660">
              <a:solidFill>
                <a:srgbClr val="4A86E8"/>
              </a:solidFill>
              <a:latin typeface="Times New Roman"/>
              <a:ea typeface="Times New Roman"/>
              <a:cs typeface="Times New Roman"/>
              <a:sym typeface="Times New Roman"/>
            </a:endParaRPr>
          </a:p>
        </p:txBody>
      </p:sp>
      <p:sp>
        <p:nvSpPr>
          <p:cNvPr id="67" name="Google Shape;67;p13"/>
          <p:cNvSpPr txBox="1"/>
          <p:nvPr>
            <p:ph idx="1" type="subTitle"/>
          </p:nvPr>
        </p:nvSpPr>
        <p:spPr>
          <a:xfrm>
            <a:off x="1963450" y="1987475"/>
            <a:ext cx="5315400" cy="20685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440"/>
              <a:buNone/>
            </a:pPr>
            <a:r>
              <a:rPr lang="tr" sz="3300">
                <a:solidFill>
                  <a:srgbClr val="CE9178"/>
                </a:solidFill>
                <a:latin typeface="Times New Roman"/>
                <a:ea typeface="Times New Roman"/>
                <a:cs typeface="Times New Roman"/>
                <a:sym typeface="Times New Roman"/>
              </a:rPr>
              <a:t>FARKLI LSTM MODELLERİYLE </a:t>
            </a:r>
            <a:r>
              <a:rPr lang="tr" sz="3300">
                <a:solidFill>
                  <a:srgbClr val="CE9178"/>
                </a:solidFill>
                <a:latin typeface="Times New Roman"/>
                <a:ea typeface="Times New Roman"/>
                <a:cs typeface="Times New Roman"/>
                <a:sym typeface="Times New Roman"/>
              </a:rPr>
              <a:t>TÜRKÇE DUYGU ANALİZ ARACI</a:t>
            </a:r>
            <a:endParaRPr sz="3300">
              <a:solidFill>
                <a:srgbClr val="CE9178"/>
              </a:solidFill>
              <a:latin typeface="Times New Roman"/>
              <a:ea typeface="Times New Roman"/>
              <a:cs typeface="Times New Roman"/>
              <a:sym typeface="Times New Roman"/>
            </a:endParaRPr>
          </a:p>
          <a:p>
            <a:pPr indent="0" lvl="0" marL="0" rtl="0" algn="ctr">
              <a:lnSpc>
                <a:spcPct val="115000"/>
              </a:lnSpc>
              <a:spcBef>
                <a:spcPts val="0"/>
              </a:spcBef>
              <a:spcAft>
                <a:spcPts val="0"/>
              </a:spcAft>
              <a:buSzPts val="440"/>
              <a:buNone/>
            </a:pPr>
            <a:r>
              <a:t/>
            </a:r>
            <a:endParaRPr sz="939">
              <a:solidFill>
                <a:srgbClr val="CE9178"/>
              </a:solidFill>
              <a:latin typeface="Times New Roman"/>
              <a:ea typeface="Times New Roman"/>
              <a:cs typeface="Times New Roman"/>
              <a:sym typeface="Times New Roman"/>
            </a:endParaRPr>
          </a:p>
        </p:txBody>
      </p:sp>
      <p:sp>
        <p:nvSpPr>
          <p:cNvPr id="68" name="Google Shape;68;p13"/>
          <p:cNvSpPr txBox="1"/>
          <p:nvPr/>
        </p:nvSpPr>
        <p:spPr>
          <a:xfrm>
            <a:off x="947750" y="4314450"/>
            <a:ext cx="1966800" cy="70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tr" sz="2600">
                <a:solidFill>
                  <a:schemeClr val="dk2"/>
                </a:solidFill>
                <a:latin typeface="Impact"/>
                <a:ea typeface="Impact"/>
                <a:cs typeface="Impact"/>
                <a:sym typeface="Impact"/>
              </a:rPr>
              <a:t>ZEYNEP UĞUZ</a:t>
            </a:r>
            <a:endParaRPr sz="2600">
              <a:solidFill>
                <a:schemeClr val="dk2"/>
              </a:solidFill>
              <a:latin typeface="Impact"/>
              <a:ea typeface="Impact"/>
              <a:cs typeface="Impact"/>
              <a:sym typeface="Impac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PROJE TANIMI</a:t>
            </a:r>
            <a:endParaRPr/>
          </a:p>
        </p:txBody>
      </p:sp>
      <p:sp>
        <p:nvSpPr>
          <p:cNvPr id="74" name="Google Shape;74;p14"/>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381000" marR="381000" rtl="0" algn="just">
              <a:spcBef>
                <a:spcPts val="1200"/>
              </a:spcBef>
              <a:spcAft>
                <a:spcPts val="0"/>
              </a:spcAft>
              <a:buNone/>
            </a:pPr>
            <a:r>
              <a:rPr lang="tr" sz="2000">
                <a:solidFill>
                  <a:srgbClr val="000000"/>
                </a:solidFill>
                <a:latin typeface="Times New Roman"/>
                <a:ea typeface="Times New Roman"/>
                <a:cs typeface="Times New Roman"/>
                <a:sym typeface="Times New Roman"/>
              </a:rPr>
              <a:t>Bu projede, e-ticaret platformlarından toplanan müşteri yorumları üzerinde doğal dil işleme ve derin öğrenme yöntemleri kullanılarak duygu analizi gerçekleştirilmiştir.</a:t>
            </a:r>
            <a:br>
              <a:rPr lang="tr" sz="2000">
                <a:solidFill>
                  <a:srgbClr val="000000"/>
                </a:solidFill>
                <a:latin typeface="Times New Roman"/>
                <a:ea typeface="Times New Roman"/>
                <a:cs typeface="Times New Roman"/>
                <a:sym typeface="Times New Roman"/>
              </a:rPr>
            </a:br>
            <a:r>
              <a:rPr lang="tr" sz="2000">
                <a:solidFill>
                  <a:srgbClr val="000000"/>
                </a:solidFill>
                <a:latin typeface="Times New Roman"/>
                <a:ea typeface="Times New Roman"/>
                <a:cs typeface="Times New Roman"/>
                <a:sym typeface="Times New Roman"/>
              </a:rPr>
              <a:t>Amaç; yorumları pozitif, negatif ve nötr kategorilerine ayırarak müşteri memnuniyetini ölçmek ve işletmelere içgörü sağlamaktır.</a:t>
            </a:r>
            <a:br>
              <a:rPr lang="tr" sz="2000">
                <a:solidFill>
                  <a:srgbClr val="000000"/>
                </a:solidFill>
                <a:latin typeface="Times New Roman"/>
                <a:ea typeface="Times New Roman"/>
                <a:cs typeface="Times New Roman"/>
                <a:sym typeface="Times New Roman"/>
              </a:rPr>
            </a:br>
            <a:r>
              <a:rPr lang="tr" sz="2000">
                <a:solidFill>
                  <a:srgbClr val="000000"/>
                </a:solidFill>
                <a:latin typeface="Times New Roman"/>
                <a:ea typeface="Times New Roman"/>
                <a:cs typeface="Times New Roman"/>
                <a:sym typeface="Times New Roman"/>
              </a:rPr>
              <a:t>Proje kapsamında farklı derin öğrenme modelleri (LSTM, BiLSTM, CNN-LSTM, Three Layer (Stacked) LSTM) denenmiş ve performansları karşılaştırılmıştır.</a:t>
            </a:r>
            <a:endParaRPr sz="2000">
              <a:solidFill>
                <a:srgbClr val="000000"/>
              </a:solidFill>
              <a:latin typeface="Times New Roman"/>
              <a:ea typeface="Times New Roman"/>
              <a:cs typeface="Times New Roman"/>
              <a:sym typeface="Times New Roman"/>
            </a:endParaRPr>
          </a:p>
          <a:p>
            <a:pPr indent="0" lvl="0" marL="0" rtl="0" algn="just">
              <a:spcBef>
                <a:spcPts val="1200"/>
              </a:spcBef>
              <a:spcAft>
                <a:spcPts val="120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5"/>
          <p:cNvSpPr txBox="1"/>
          <p:nvPr>
            <p:ph type="title"/>
          </p:nvPr>
        </p:nvSpPr>
        <p:spPr>
          <a:xfrm>
            <a:off x="311700" y="445025"/>
            <a:ext cx="45171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VERİ SETİ</a:t>
            </a:r>
            <a:endParaRPr/>
          </a:p>
        </p:txBody>
      </p:sp>
      <p:sp>
        <p:nvSpPr>
          <p:cNvPr id="80" name="Google Shape;80;p15"/>
          <p:cNvSpPr txBox="1"/>
          <p:nvPr>
            <p:ph idx="1" type="body"/>
          </p:nvPr>
        </p:nvSpPr>
        <p:spPr>
          <a:xfrm>
            <a:off x="311700" y="996250"/>
            <a:ext cx="3495300" cy="354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852"/>
              <a:buNone/>
            </a:pPr>
            <a:r>
              <a:rPr lang="tr" sz="1895">
                <a:solidFill>
                  <a:srgbClr val="000000"/>
                </a:solidFill>
                <a:latin typeface="Times New Roman"/>
                <a:ea typeface="Times New Roman"/>
                <a:cs typeface="Times New Roman"/>
                <a:sym typeface="Times New Roman"/>
              </a:rPr>
              <a:t>Farklı duygu analizi veri kaynakları birleştirilerek yaklaşık 92 bin kayıttan oluşan bir birleşik veri seti oluşturulmuştur.</a:t>
            </a:r>
            <a:endParaRPr sz="1895">
              <a:solidFill>
                <a:srgbClr val="000000"/>
              </a:solidFill>
              <a:latin typeface="Times New Roman"/>
              <a:ea typeface="Times New Roman"/>
              <a:cs typeface="Times New Roman"/>
              <a:sym typeface="Times New Roman"/>
            </a:endParaRPr>
          </a:p>
          <a:p>
            <a:pPr indent="0" lvl="0" marL="0" rtl="0" algn="l">
              <a:spcBef>
                <a:spcPts val="1200"/>
              </a:spcBef>
              <a:spcAft>
                <a:spcPts val="0"/>
              </a:spcAft>
              <a:buSzPts val="852"/>
              <a:buNone/>
            </a:pPr>
            <a:r>
              <a:rPr lang="tr" sz="1895">
                <a:solidFill>
                  <a:srgbClr val="000000"/>
                </a:solidFill>
                <a:latin typeface="Times New Roman"/>
                <a:ea typeface="Times New Roman"/>
                <a:cs typeface="Times New Roman"/>
                <a:sym typeface="Times New Roman"/>
              </a:rPr>
              <a:t>Veri dağılımı: 66 bin pozitif, 21 bin negatif ve 5 bin nötr yorum.</a:t>
            </a:r>
            <a:endParaRPr sz="1895">
              <a:solidFill>
                <a:srgbClr val="000000"/>
              </a:solidFill>
              <a:latin typeface="Times New Roman"/>
              <a:ea typeface="Times New Roman"/>
              <a:cs typeface="Times New Roman"/>
              <a:sym typeface="Times New Roman"/>
            </a:endParaRPr>
          </a:p>
          <a:p>
            <a:pPr indent="0" lvl="0" marL="0" rtl="0" algn="l">
              <a:spcBef>
                <a:spcPts val="1200"/>
              </a:spcBef>
              <a:spcAft>
                <a:spcPts val="1200"/>
              </a:spcAft>
              <a:buSzPts val="852"/>
              <a:buNone/>
            </a:pPr>
            <a:r>
              <a:rPr lang="tr" sz="1895">
                <a:solidFill>
                  <a:srgbClr val="000000"/>
                </a:solidFill>
                <a:latin typeface="Times New Roman"/>
                <a:ea typeface="Times New Roman"/>
                <a:cs typeface="Times New Roman"/>
                <a:sym typeface="Times New Roman"/>
              </a:rPr>
              <a:t>Bu dengesizliği gidermek için 10 bin pozitif, 10 bin negatif ve tüm nötr sınıflar seçilerek 25 bin kayıttan oluşan dengeli bir veri seti elde edilmiştir.</a:t>
            </a:r>
            <a:endParaRPr sz="1895">
              <a:solidFill>
                <a:srgbClr val="000000"/>
              </a:solidFill>
              <a:latin typeface="Times New Roman"/>
              <a:ea typeface="Times New Roman"/>
              <a:cs typeface="Times New Roman"/>
              <a:sym typeface="Times New Roman"/>
            </a:endParaRPr>
          </a:p>
        </p:txBody>
      </p:sp>
      <p:pic>
        <p:nvPicPr>
          <p:cNvPr id="81" name="Google Shape;81;p15"/>
          <p:cNvPicPr preferRelativeResize="0"/>
          <p:nvPr/>
        </p:nvPicPr>
        <p:blipFill rotWithShape="1">
          <a:blip r:embed="rId3">
            <a:alphaModFix/>
          </a:blip>
          <a:srcRect b="0" l="971" r="1913" t="0"/>
          <a:stretch/>
        </p:blipFill>
        <p:spPr>
          <a:xfrm>
            <a:off x="3736550" y="1350175"/>
            <a:ext cx="5337001" cy="3547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VERİ ÖN İŞLEME 1: METİN TEMİZLEME</a:t>
            </a:r>
            <a:endParaRPr/>
          </a:p>
        </p:txBody>
      </p:sp>
      <p:sp>
        <p:nvSpPr>
          <p:cNvPr id="87" name="Google Shape;87;p16"/>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349250" lvl="0" marL="457200" rtl="0" algn="l">
              <a:spcBef>
                <a:spcPts val="0"/>
              </a:spcBef>
              <a:spcAft>
                <a:spcPts val="0"/>
              </a:spcAft>
              <a:buClr>
                <a:srgbClr val="000000"/>
              </a:buClr>
              <a:buSzPts val="1900"/>
              <a:buFont typeface="Times New Roman"/>
              <a:buChar char="●"/>
            </a:pPr>
            <a:r>
              <a:rPr lang="tr" sz="1900">
                <a:solidFill>
                  <a:srgbClr val="000000"/>
                </a:solidFill>
                <a:latin typeface="Times New Roman"/>
                <a:ea typeface="Times New Roman"/>
                <a:cs typeface="Times New Roman"/>
                <a:sym typeface="Times New Roman"/>
              </a:rPr>
              <a:t>Yorumlarda HTML etiketleri, URL, özel karakterler ve fazla boşluklar temizlendi.</a:t>
            </a:r>
            <a:endParaRPr sz="1900">
              <a:solidFill>
                <a:srgbClr val="000000"/>
              </a:solidFill>
              <a:latin typeface="Times New Roman"/>
              <a:ea typeface="Times New Roman"/>
              <a:cs typeface="Times New Roman"/>
              <a:sym typeface="Times New Roman"/>
            </a:endParaRPr>
          </a:p>
          <a:p>
            <a:pPr indent="0" lvl="0" marL="914400" rtl="0" algn="l">
              <a:lnSpc>
                <a:spcPct val="135714"/>
              </a:lnSpc>
              <a:spcBef>
                <a:spcPts val="1200"/>
              </a:spcBef>
              <a:spcAft>
                <a:spcPts val="0"/>
              </a:spcAft>
              <a:buNone/>
            </a:pPr>
            <a:r>
              <a:rPr lang="tr">
                <a:solidFill>
                  <a:srgbClr val="0000FF"/>
                </a:solidFill>
                <a:highlight>
                  <a:schemeClr val="lt1"/>
                </a:highlight>
                <a:latin typeface="Courier New"/>
                <a:ea typeface="Courier New"/>
                <a:cs typeface="Courier New"/>
                <a:sym typeface="Courier New"/>
              </a:rPr>
              <a:t>def clean_text(t: str) -&gt; str:</a:t>
            </a:r>
            <a:endParaRPr>
              <a:solidFill>
                <a:srgbClr val="0000FF"/>
              </a:solidFill>
              <a:highlight>
                <a:schemeClr val="lt1"/>
              </a:highlight>
              <a:latin typeface="Courier New"/>
              <a:ea typeface="Courier New"/>
              <a:cs typeface="Courier New"/>
              <a:sym typeface="Courier New"/>
            </a:endParaRPr>
          </a:p>
          <a:p>
            <a:pPr indent="0" lvl="0" marL="914400" rtl="0" algn="l">
              <a:lnSpc>
                <a:spcPct val="135714"/>
              </a:lnSpc>
              <a:spcBef>
                <a:spcPts val="0"/>
              </a:spcBef>
              <a:spcAft>
                <a:spcPts val="0"/>
              </a:spcAft>
              <a:buNone/>
            </a:pPr>
            <a:r>
              <a:rPr lang="tr">
                <a:solidFill>
                  <a:srgbClr val="0000FF"/>
                </a:solidFill>
                <a:highlight>
                  <a:schemeClr val="lt1"/>
                </a:highlight>
                <a:latin typeface="Courier New"/>
                <a:ea typeface="Courier New"/>
                <a:cs typeface="Courier New"/>
                <a:sym typeface="Courier New"/>
              </a:rPr>
              <a:t>    t = re.sub(r"&lt;[^&gt;]+&gt;", " ", str(t))</a:t>
            </a:r>
            <a:endParaRPr>
              <a:solidFill>
                <a:srgbClr val="0000FF"/>
              </a:solidFill>
              <a:highlight>
                <a:schemeClr val="lt1"/>
              </a:highlight>
              <a:latin typeface="Courier New"/>
              <a:ea typeface="Courier New"/>
              <a:cs typeface="Courier New"/>
              <a:sym typeface="Courier New"/>
            </a:endParaRPr>
          </a:p>
          <a:p>
            <a:pPr indent="0" lvl="0" marL="914400" rtl="0" algn="l">
              <a:lnSpc>
                <a:spcPct val="135714"/>
              </a:lnSpc>
              <a:spcBef>
                <a:spcPts val="0"/>
              </a:spcBef>
              <a:spcAft>
                <a:spcPts val="0"/>
              </a:spcAft>
              <a:buNone/>
            </a:pPr>
            <a:r>
              <a:rPr lang="tr">
                <a:solidFill>
                  <a:srgbClr val="0000FF"/>
                </a:solidFill>
                <a:highlight>
                  <a:schemeClr val="lt1"/>
                </a:highlight>
                <a:latin typeface="Courier New"/>
                <a:ea typeface="Courier New"/>
                <a:cs typeface="Courier New"/>
                <a:sym typeface="Courier New"/>
              </a:rPr>
              <a:t>    t = re.sub(r"http\S+|www\.\S+", " ", t)</a:t>
            </a:r>
            <a:endParaRPr>
              <a:solidFill>
                <a:srgbClr val="0000FF"/>
              </a:solidFill>
              <a:highlight>
                <a:schemeClr val="lt1"/>
              </a:highlight>
              <a:latin typeface="Courier New"/>
              <a:ea typeface="Courier New"/>
              <a:cs typeface="Courier New"/>
              <a:sym typeface="Courier New"/>
            </a:endParaRPr>
          </a:p>
          <a:p>
            <a:pPr indent="0" lvl="0" marL="914400" rtl="0" algn="l">
              <a:lnSpc>
                <a:spcPct val="135714"/>
              </a:lnSpc>
              <a:spcBef>
                <a:spcPts val="0"/>
              </a:spcBef>
              <a:spcAft>
                <a:spcPts val="0"/>
              </a:spcAft>
              <a:buNone/>
            </a:pPr>
            <a:r>
              <a:rPr lang="tr">
                <a:solidFill>
                  <a:srgbClr val="0000FF"/>
                </a:solidFill>
                <a:highlight>
                  <a:schemeClr val="lt1"/>
                </a:highlight>
                <a:latin typeface="Courier New"/>
                <a:ea typeface="Courier New"/>
                <a:cs typeface="Courier New"/>
                <a:sym typeface="Courier New"/>
              </a:rPr>
              <a:t>    t = re.sub(r"[^0-9a-zçğıöşüA-ZÇĞİÖŞÜ\s]", " ", t)</a:t>
            </a:r>
            <a:endParaRPr>
              <a:solidFill>
                <a:srgbClr val="0000FF"/>
              </a:solidFill>
              <a:highlight>
                <a:schemeClr val="lt1"/>
              </a:highlight>
              <a:latin typeface="Courier New"/>
              <a:ea typeface="Courier New"/>
              <a:cs typeface="Courier New"/>
              <a:sym typeface="Courier New"/>
            </a:endParaRPr>
          </a:p>
          <a:p>
            <a:pPr indent="0" lvl="0" marL="914400" rtl="0" algn="l">
              <a:lnSpc>
                <a:spcPct val="135714"/>
              </a:lnSpc>
              <a:spcBef>
                <a:spcPts val="0"/>
              </a:spcBef>
              <a:spcAft>
                <a:spcPts val="0"/>
              </a:spcAft>
              <a:buNone/>
            </a:pPr>
            <a:r>
              <a:rPr lang="tr">
                <a:solidFill>
                  <a:srgbClr val="0000FF"/>
                </a:solidFill>
                <a:highlight>
                  <a:schemeClr val="lt1"/>
                </a:highlight>
                <a:latin typeface="Courier New"/>
                <a:ea typeface="Courier New"/>
                <a:cs typeface="Courier New"/>
                <a:sym typeface="Courier New"/>
              </a:rPr>
              <a:t>    t = re.sub(r"\s+", " ", t).strip()</a:t>
            </a:r>
            <a:endParaRPr>
              <a:solidFill>
                <a:srgbClr val="0000FF"/>
              </a:solidFill>
              <a:highlight>
                <a:schemeClr val="lt1"/>
              </a:highlight>
              <a:latin typeface="Courier New"/>
              <a:ea typeface="Courier New"/>
              <a:cs typeface="Courier New"/>
              <a:sym typeface="Courier New"/>
            </a:endParaRPr>
          </a:p>
          <a:p>
            <a:pPr indent="0" lvl="0" marL="914400" rtl="0" algn="l">
              <a:lnSpc>
                <a:spcPct val="135714"/>
              </a:lnSpc>
              <a:spcBef>
                <a:spcPts val="0"/>
              </a:spcBef>
              <a:spcAft>
                <a:spcPts val="0"/>
              </a:spcAft>
              <a:buNone/>
            </a:pPr>
            <a:r>
              <a:rPr lang="tr">
                <a:solidFill>
                  <a:srgbClr val="0000FF"/>
                </a:solidFill>
                <a:highlight>
                  <a:schemeClr val="lt1"/>
                </a:highlight>
                <a:latin typeface="Courier New"/>
                <a:ea typeface="Courier New"/>
                <a:cs typeface="Courier New"/>
                <a:sym typeface="Courier New"/>
              </a:rPr>
              <a:t>    return t.lower()</a:t>
            </a:r>
            <a:endParaRPr>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VERİ ÖN İŞLEME 2: ZEMBEREK KÜTÜPHANESİ</a:t>
            </a:r>
            <a:endParaRPr/>
          </a:p>
        </p:txBody>
      </p:sp>
      <p:sp>
        <p:nvSpPr>
          <p:cNvPr id="93" name="Google Shape;93;p17"/>
          <p:cNvSpPr txBox="1"/>
          <p:nvPr>
            <p:ph idx="1" type="body"/>
          </p:nvPr>
        </p:nvSpPr>
        <p:spPr>
          <a:xfrm>
            <a:off x="135550" y="1077100"/>
            <a:ext cx="6102300" cy="4058100"/>
          </a:xfrm>
          <a:prstGeom prst="rect">
            <a:avLst/>
          </a:prstGeom>
        </p:spPr>
        <p:txBody>
          <a:bodyPr anchorCtr="0" anchor="t" bIns="91425" lIns="91425" spcFirstLastPara="1" rIns="91425" wrap="square" tIns="91425">
            <a:noAutofit/>
          </a:bodyPr>
          <a:lstStyle/>
          <a:p>
            <a:pPr indent="-319405" lvl="0" marL="457200" rtl="0" algn="l">
              <a:lnSpc>
                <a:spcPct val="95000"/>
              </a:lnSpc>
              <a:spcBef>
                <a:spcPts val="1200"/>
              </a:spcBef>
              <a:spcAft>
                <a:spcPts val="0"/>
              </a:spcAft>
              <a:buClr>
                <a:srgbClr val="000000"/>
              </a:buClr>
              <a:buSzPts val="1430"/>
              <a:buFont typeface="Times New Roman"/>
              <a:buChar char="●"/>
            </a:pPr>
            <a:r>
              <a:rPr b="1" lang="tr" sz="1430">
                <a:solidFill>
                  <a:srgbClr val="000000"/>
                </a:solidFill>
                <a:latin typeface="Times New Roman"/>
                <a:ea typeface="Times New Roman"/>
                <a:cs typeface="Times New Roman"/>
                <a:sym typeface="Times New Roman"/>
              </a:rPr>
              <a:t>Zemberek kütüphanesi kullanılarak:</a:t>
            </a:r>
            <a:endParaRPr b="1" sz="1430">
              <a:solidFill>
                <a:srgbClr val="000000"/>
              </a:solidFill>
              <a:latin typeface="Times New Roman"/>
              <a:ea typeface="Times New Roman"/>
              <a:cs typeface="Times New Roman"/>
              <a:sym typeface="Times New Roman"/>
            </a:endParaRPr>
          </a:p>
          <a:p>
            <a:pPr indent="-319405" lvl="1" marL="914400" rtl="0" algn="l">
              <a:lnSpc>
                <a:spcPct val="95000"/>
              </a:lnSpc>
              <a:spcBef>
                <a:spcPts val="0"/>
              </a:spcBef>
              <a:spcAft>
                <a:spcPts val="0"/>
              </a:spcAft>
              <a:buClr>
                <a:srgbClr val="000000"/>
              </a:buClr>
              <a:buSzPts val="1430"/>
              <a:buFont typeface="Times New Roman"/>
              <a:buChar char="○"/>
            </a:pPr>
            <a:r>
              <a:rPr lang="tr" sz="1430">
                <a:solidFill>
                  <a:srgbClr val="000000"/>
                </a:solidFill>
                <a:latin typeface="Times New Roman"/>
                <a:ea typeface="Times New Roman"/>
                <a:cs typeface="Times New Roman"/>
                <a:sym typeface="Times New Roman"/>
              </a:rPr>
              <a:t>Türkçe kelimelerin morfolojik analizi yapıldı.</a:t>
            </a:r>
            <a:endParaRPr sz="1430">
              <a:solidFill>
                <a:srgbClr val="000000"/>
              </a:solidFill>
              <a:latin typeface="Times New Roman"/>
              <a:ea typeface="Times New Roman"/>
              <a:cs typeface="Times New Roman"/>
              <a:sym typeface="Times New Roman"/>
            </a:endParaRPr>
          </a:p>
          <a:p>
            <a:pPr indent="0" lvl="0" marL="914400" rtl="0" algn="l">
              <a:lnSpc>
                <a:spcPct val="115714"/>
              </a:lnSpc>
              <a:spcBef>
                <a:spcPts val="1200"/>
              </a:spcBef>
              <a:spcAft>
                <a:spcPts val="0"/>
              </a:spcAft>
              <a:buSzPts val="770"/>
              <a:buNone/>
            </a:pPr>
            <a:r>
              <a:rPr lang="tr" sz="1150">
                <a:solidFill>
                  <a:srgbClr val="0000FF"/>
                </a:solidFill>
                <a:highlight>
                  <a:schemeClr val="lt1"/>
                </a:highlight>
                <a:latin typeface="Courier New"/>
                <a:ea typeface="Courier New"/>
                <a:cs typeface="Courier New"/>
                <a:sym typeface="Courier New"/>
              </a:rPr>
              <a:t>def is_known(w: str) -&gt; bool:</a:t>
            </a:r>
            <a:endParaRPr sz="1150">
              <a:solidFill>
                <a:srgbClr val="0000FF"/>
              </a:solidFill>
              <a:highlight>
                <a:schemeClr val="lt1"/>
              </a:highlight>
              <a:latin typeface="Courier New"/>
              <a:ea typeface="Courier New"/>
              <a:cs typeface="Courier New"/>
              <a:sym typeface="Courier New"/>
            </a:endParaRPr>
          </a:p>
          <a:p>
            <a:pPr indent="0" lvl="0" marL="914400" rtl="0" algn="l">
              <a:lnSpc>
                <a:spcPct val="115714"/>
              </a:lnSpc>
              <a:spcBef>
                <a:spcPts val="0"/>
              </a:spcBef>
              <a:spcAft>
                <a:spcPts val="0"/>
              </a:spcAft>
              <a:buSzPts val="770"/>
              <a:buNone/>
            </a:pPr>
            <a:r>
              <a:rPr lang="tr" sz="1150">
                <a:solidFill>
                  <a:srgbClr val="0000FF"/>
                </a:solidFill>
                <a:highlight>
                  <a:schemeClr val="lt1"/>
                </a:highlight>
                <a:latin typeface="Courier New"/>
                <a:ea typeface="Courier New"/>
                <a:cs typeface="Courier New"/>
                <a:sym typeface="Courier New"/>
              </a:rPr>
              <a:t>    ana = morphology.analyzeAndDisambiguate(w).bestAnalysis()</a:t>
            </a:r>
            <a:endParaRPr sz="1150">
              <a:solidFill>
                <a:srgbClr val="0000FF"/>
              </a:solidFill>
              <a:highlight>
                <a:schemeClr val="lt1"/>
              </a:highlight>
              <a:latin typeface="Courier New"/>
              <a:ea typeface="Courier New"/>
              <a:cs typeface="Courier New"/>
              <a:sym typeface="Courier New"/>
            </a:endParaRPr>
          </a:p>
          <a:p>
            <a:pPr indent="0" lvl="0" marL="914400" rtl="0" algn="l">
              <a:lnSpc>
                <a:spcPct val="115714"/>
              </a:lnSpc>
              <a:spcBef>
                <a:spcPts val="0"/>
              </a:spcBef>
              <a:spcAft>
                <a:spcPts val="0"/>
              </a:spcAft>
              <a:buSzPts val="770"/>
              <a:buNone/>
            </a:pPr>
            <a:r>
              <a:rPr lang="tr" sz="1150">
                <a:solidFill>
                  <a:srgbClr val="0000FF"/>
                </a:solidFill>
                <a:highlight>
                  <a:schemeClr val="lt1"/>
                </a:highlight>
                <a:latin typeface="Courier New"/>
                <a:ea typeface="Courier New"/>
                <a:cs typeface="Courier New"/>
                <a:sym typeface="Courier New"/>
              </a:rPr>
              <a:t>    return not (ana.isEmpty() or ana.get(0).isUnknown())</a:t>
            </a:r>
            <a:endParaRPr sz="1530">
              <a:solidFill>
                <a:srgbClr val="000000"/>
              </a:solidFill>
              <a:latin typeface="Times New Roman"/>
              <a:ea typeface="Times New Roman"/>
              <a:cs typeface="Times New Roman"/>
              <a:sym typeface="Times New Roman"/>
            </a:endParaRPr>
          </a:p>
          <a:p>
            <a:pPr indent="-319405" lvl="1" marL="914400" rtl="0" algn="l">
              <a:lnSpc>
                <a:spcPct val="95000"/>
              </a:lnSpc>
              <a:spcBef>
                <a:spcPts val="1200"/>
              </a:spcBef>
              <a:spcAft>
                <a:spcPts val="0"/>
              </a:spcAft>
              <a:buClr>
                <a:srgbClr val="000000"/>
              </a:buClr>
              <a:buSzPts val="1430"/>
              <a:buFont typeface="Times New Roman"/>
              <a:buChar char="○"/>
            </a:pPr>
            <a:r>
              <a:rPr lang="tr" sz="1430">
                <a:solidFill>
                  <a:srgbClr val="000000"/>
                </a:solidFill>
                <a:latin typeface="Times New Roman"/>
                <a:ea typeface="Times New Roman"/>
                <a:cs typeface="Times New Roman"/>
                <a:sym typeface="Times New Roman"/>
              </a:rPr>
              <a:t>Yazım hataları ve eksik, yanlış noktalama spell-checker ile düzeltildi.</a:t>
            </a:r>
            <a:endParaRPr sz="1430">
              <a:solidFill>
                <a:srgbClr val="000000"/>
              </a:solidFill>
              <a:latin typeface="Times New Roman"/>
              <a:ea typeface="Times New Roman"/>
              <a:cs typeface="Times New Roman"/>
              <a:sym typeface="Times New Roman"/>
            </a:endParaRPr>
          </a:p>
          <a:p>
            <a:pPr indent="0" lvl="0" marL="914400" rtl="0" algn="l">
              <a:lnSpc>
                <a:spcPct val="115714"/>
              </a:lnSpc>
              <a:spcBef>
                <a:spcPts val="1200"/>
              </a:spcBef>
              <a:spcAft>
                <a:spcPts val="0"/>
              </a:spcAft>
              <a:buSzPts val="770"/>
              <a:buNone/>
            </a:pPr>
            <a:r>
              <a:rPr lang="tr" sz="1236">
                <a:solidFill>
                  <a:srgbClr val="0000FF"/>
                </a:solidFill>
                <a:highlight>
                  <a:schemeClr val="lt1"/>
                </a:highlight>
                <a:latin typeface="Courier New"/>
                <a:ea typeface="Courier New"/>
                <a:cs typeface="Courier New"/>
                <a:sym typeface="Courier New"/>
              </a:rPr>
              <a:t>if spell_checker.check(w) or is_known(w):</a:t>
            </a:r>
            <a:endParaRPr sz="1236">
              <a:solidFill>
                <a:srgbClr val="0000FF"/>
              </a:solidFill>
              <a:highlight>
                <a:schemeClr val="lt1"/>
              </a:highlight>
              <a:latin typeface="Courier New"/>
              <a:ea typeface="Courier New"/>
              <a:cs typeface="Courier New"/>
              <a:sym typeface="Courier New"/>
            </a:endParaRPr>
          </a:p>
          <a:p>
            <a:pPr indent="0" lvl="0" marL="914400" rtl="0" algn="l">
              <a:lnSpc>
                <a:spcPct val="115714"/>
              </a:lnSpc>
              <a:spcBef>
                <a:spcPts val="0"/>
              </a:spcBef>
              <a:spcAft>
                <a:spcPts val="0"/>
              </a:spcAft>
              <a:buSzPts val="770"/>
              <a:buNone/>
            </a:pPr>
            <a:r>
              <a:rPr lang="tr" sz="1236">
                <a:solidFill>
                  <a:srgbClr val="0000FF"/>
                </a:solidFill>
                <a:highlight>
                  <a:schemeClr val="lt1"/>
                </a:highlight>
                <a:latin typeface="Courier New"/>
                <a:ea typeface="Courier New"/>
                <a:cs typeface="Courier New"/>
                <a:sym typeface="Courier New"/>
              </a:rPr>
              <a:t>        return w</a:t>
            </a:r>
            <a:endParaRPr sz="1236">
              <a:solidFill>
                <a:srgbClr val="0000FF"/>
              </a:solidFill>
              <a:highlight>
                <a:schemeClr val="lt1"/>
              </a:highlight>
              <a:latin typeface="Courier New"/>
              <a:ea typeface="Courier New"/>
              <a:cs typeface="Courier New"/>
              <a:sym typeface="Courier New"/>
            </a:endParaRPr>
          </a:p>
          <a:p>
            <a:pPr indent="0" lvl="0" marL="914400" rtl="0" algn="l">
              <a:lnSpc>
                <a:spcPct val="115714"/>
              </a:lnSpc>
              <a:spcBef>
                <a:spcPts val="0"/>
              </a:spcBef>
              <a:spcAft>
                <a:spcPts val="0"/>
              </a:spcAft>
              <a:buSzPts val="770"/>
              <a:buNone/>
            </a:pPr>
            <a:r>
              <a:rPr lang="tr" sz="1236">
                <a:solidFill>
                  <a:srgbClr val="0000FF"/>
                </a:solidFill>
                <a:highlight>
                  <a:schemeClr val="lt1"/>
                </a:highlight>
                <a:latin typeface="Courier New"/>
                <a:ea typeface="Courier New"/>
                <a:cs typeface="Courier New"/>
                <a:sym typeface="Courier New"/>
              </a:rPr>
              <a:t>    sugs = spell_checker.suggestForWord(w)</a:t>
            </a:r>
            <a:endParaRPr sz="1236">
              <a:solidFill>
                <a:srgbClr val="0000FF"/>
              </a:solidFill>
              <a:highlight>
                <a:schemeClr val="lt1"/>
              </a:highlight>
              <a:latin typeface="Courier New"/>
              <a:ea typeface="Courier New"/>
              <a:cs typeface="Courier New"/>
              <a:sym typeface="Courier New"/>
            </a:endParaRPr>
          </a:p>
          <a:p>
            <a:pPr indent="0" lvl="0" marL="914400" rtl="0" algn="l">
              <a:lnSpc>
                <a:spcPct val="115714"/>
              </a:lnSpc>
              <a:spcBef>
                <a:spcPts val="0"/>
              </a:spcBef>
              <a:spcAft>
                <a:spcPts val="0"/>
              </a:spcAft>
              <a:buSzPts val="770"/>
              <a:buNone/>
            </a:pPr>
            <a:r>
              <a:rPr lang="tr" sz="1236">
                <a:solidFill>
                  <a:srgbClr val="0000FF"/>
                </a:solidFill>
                <a:highlight>
                  <a:schemeClr val="lt1"/>
                </a:highlight>
                <a:latin typeface="Courier New"/>
                <a:ea typeface="Courier New"/>
                <a:cs typeface="Courier New"/>
                <a:sym typeface="Courier New"/>
              </a:rPr>
              <a:t>    if not sugs.isEmpty():</a:t>
            </a:r>
            <a:endParaRPr sz="1236">
              <a:solidFill>
                <a:srgbClr val="0000FF"/>
              </a:solidFill>
              <a:highlight>
                <a:schemeClr val="lt1"/>
              </a:highlight>
              <a:latin typeface="Courier New"/>
              <a:ea typeface="Courier New"/>
              <a:cs typeface="Courier New"/>
              <a:sym typeface="Courier New"/>
            </a:endParaRPr>
          </a:p>
          <a:p>
            <a:pPr indent="0" lvl="0" marL="914400" rtl="0" algn="l">
              <a:lnSpc>
                <a:spcPct val="115714"/>
              </a:lnSpc>
              <a:spcBef>
                <a:spcPts val="0"/>
              </a:spcBef>
              <a:spcAft>
                <a:spcPts val="0"/>
              </a:spcAft>
              <a:buSzPts val="770"/>
              <a:buNone/>
            </a:pPr>
            <a:r>
              <a:rPr lang="tr" sz="1236">
                <a:solidFill>
                  <a:srgbClr val="0000FF"/>
                </a:solidFill>
                <a:highlight>
                  <a:schemeClr val="lt1"/>
                </a:highlight>
                <a:latin typeface="Courier New"/>
                <a:ea typeface="Courier New"/>
                <a:cs typeface="Courier New"/>
                <a:sym typeface="Courier New"/>
              </a:rPr>
              <a:t>        cand = str(sugs.get(0)).lower()</a:t>
            </a:r>
            <a:endParaRPr sz="1236">
              <a:solidFill>
                <a:srgbClr val="0000FF"/>
              </a:solidFill>
              <a:highlight>
                <a:schemeClr val="lt1"/>
              </a:highlight>
              <a:latin typeface="Courier New"/>
              <a:ea typeface="Courier New"/>
              <a:cs typeface="Courier New"/>
              <a:sym typeface="Courier New"/>
            </a:endParaRPr>
          </a:p>
          <a:p>
            <a:pPr indent="0" lvl="0" marL="914400" rtl="0" algn="l">
              <a:lnSpc>
                <a:spcPct val="115714"/>
              </a:lnSpc>
              <a:spcBef>
                <a:spcPts val="0"/>
              </a:spcBef>
              <a:spcAft>
                <a:spcPts val="0"/>
              </a:spcAft>
              <a:buSzPts val="770"/>
              <a:buNone/>
            </a:pPr>
            <a:r>
              <a:rPr lang="tr" sz="1236">
                <a:solidFill>
                  <a:srgbClr val="0000FF"/>
                </a:solidFill>
                <a:highlight>
                  <a:schemeClr val="lt1"/>
                </a:highlight>
                <a:latin typeface="Courier New"/>
                <a:ea typeface="Courier New"/>
                <a:cs typeface="Courier New"/>
                <a:sym typeface="Courier New"/>
              </a:rPr>
              <a:t>        if spell_checker.check(cand) or is_known(cand):</a:t>
            </a:r>
            <a:endParaRPr sz="1236">
              <a:solidFill>
                <a:srgbClr val="0000FF"/>
              </a:solidFill>
              <a:highlight>
                <a:schemeClr val="lt1"/>
              </a:highlight>
              <a:latin typeface="Courier New"/>
              <a:ea typeface="Courier New"/>
              <a:cs typeface="Courier New"/>
              <a:sym typeface="Courier New"/>
            </a:endParaRPr>
          </a:p>
          <a:p>
            <a:pPr indent="0" lvl="0" marL="914400" rtl="0" algn="l">
              <a:lnSpc>
                <a:spcPct val="115714"/>
              </a:lnSpc>
              <a:spcBef>
                <a:spcPts val="0"/>
              </a:spcBef>
              <a:spcAft>
                <a:spcPts val="0"/>
              </a:spcAft>
              <a:buSzPts val="770"/>
              <a:buNone/>
            </a:pPr>
            <a:r>
              <a:rPr lang="tr" sz="1236">
                <a:solidFill>
                  <a:srgbClr val="0000FF"/>
                </a:solidFill>
                <a:highlight>
                  <a:schemeClr val="lt1"/>
                </a:highlight>
                <a:latin typeface="Courier New"/>
                <a:ea typeface="Courier New"/>
                <a:cs typeface="Courier New"/>
                <a:sym typeface="Courier New"/>
              </a:rPr>
              <a:t>            return cand</a:t>
            </a:r>
            <a:endParaRPr sz="1430">
              <a:solidFill>
                <a:srgbClr val="000000"/>
              </a:solidFill>
              <a:latin typeface="Times New Roman"/>
              <a:ea typeface="Times New Roman"/>
              <a:cs typeface="Times New Roman"/>
              <a:sym typeface="Times New Roman"/>
            </a:endParaRPr>
          </a:p>
        </p:txBody>
      </p:sp>
      <p:sp>
        <p:nvSpPr>
          <p:cNvPr id="94" name="Google Shape;94;p17"/>
          <p:cNvSpPr txBox="1"/>
          <p:nvPr/>
        </p:nvSpPr>
        <p:spPr>
          <a:xfrm>
            <a:off x="5721300" y="2068375"/>
            <a:ext cx="3293700" cy="3133200"/>
          </a:xfrm>
          <a:prstGeom prst="rect">
            <a:avLst/>
          </a:prstGeom>
          <a:noFill/>
          <a:ln>
            <a:noFill/>
          </a:ln>
        </p:spPr>
        <p:txBody>
          <a:bodyPr anchorCtr="0" anchor="t" bIns="91425" lIns="91425" spcFirstLastPara="1" rIns="91425" wrap="square" tIns="91425">
            <a:spAutoFit/>
          </a:bodyPr>
          <a:lstStyle/>
          <a:p>
            <a:pPr indent="-330200" lvl="1" marL="914400" rtl="0" algn="l">
              <a:lnSpc>
                <a:spcPct val="115000"/>
              </a:lnSpc>
              <a:spcBef>
                <a:spcPts val="1200"/>
              </a:spcBef>
              <a:spcAft>
                <a:spcPts val="0"/>
              </a:spcAft>
              <a:buClr>
                <a:srgbClr val="000000"/>
              </a:buClr>
              <a:buSzPts val="1600"/>
              <a:buFont typeface="Times New Roman"/>
              <a:buChar char="○"/>
            </a:pPr>
            <a:r>
              <a:rPr lang="tr" sz="1600">
                <a:latin typeface="Times New Roman"/>
                <a:ea typeface="Times New Roman"/>
                <a:cs typeface="Times New Roman"/>
                <a:sym typeface="Times New Roman"/>
              </a:rPr>
              <a:t>Tokenizasyon: cümleler kelimelere ayrıldı.</a:t>
            </a:r>
            <a:endParaRPr sz="1600">
              <a:latin typeface="Times New Roman"/>
              <a:ea typeface="Times New Roman"/>
              <a:cs typeface="Times New Roman"/>
              <a:sym typeface="Times New Roman"/>
            </a:endParaRPr>
          </a:p>
          <a:p>
            <a:pPr indent="0" lvl="0" marL="457200" rtl="0" algn="l">
              <a:lnSpc>
                <a:spcPct val="135714"/>
              </a:lnSpc>
              <a:spcBef>
                <a:spcPts val="1200"/>
              </a:spcBef>
              <a:spcAft>
                <a:spcPts val="0"/>
              </a:spcAft>
              <a:buNone/>
            </a:pPr>
            <a:r>
              <a:rPr lang="tr" sz="1250">
                <a:solidFill>
                  <a:srgbClr val="0000FF"/>
                </a:solidFill>
                <a:highlight>
                  <a:schemeClr val="lt1"/>
                </a:highlight>
                <a:latin typeface="Courier New"/>
                <a:ea typeface="Courier New"/>
                <a:cs typeface="Courier New"/>
                <a:sym typeface="Courier New"/>
              </a:rPr>
              <a:t>def zemberek_tokenize(text: str):</a:t>
            </a:r>
            <a:endParaRPr sz="125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250">
                <a:solidFill>
                  <a:srgbClr val="0000FF"/>
                </a:solidFill>
                <a:highlight>
                  <a:schemeClr val="lt1"/>
                </a:highlight>
                <a:latin typeface="Courier New"/>
                <a:ea typeface="Courier New"/>
                <a:cs typeface="Courier New"/>
                <a:sym typeface="Courier New"/>
              </a:rPr>
              <a:t>    toks = [str(x) for x in tokenizer.tokenizeToStrings(text)]</a:t>
            </a:r>
            <a:endParaRPr sz="125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250">
                <a:solidFill>
                  <a:srgbClr val="0000FF"/>
                </a:solidFill>
                <a:highlight>
                  <a:schemeClr val="lt1"/>
                </a:highlight>
                <a:latin typeface="Courier New"/>
                <a:ea typeface="Courier New"/>
                <a:cs typeface="Courier New"/>
                <a:sym typeface="Courier New"/>
              </a:rPr>
              <a:t>    return [w for w in toks if _ALNUM_TR.match(w)]</a:t>
            </a:r>
            <a:endParaRPr sz="1250">
              <a:solidFill>
                <a:srgbClr val="0000FF"/>
              </a:solidFill>
              <a:highlight>
                <a:schemeClr val="lt1"/>
              </a:highlight>
              <a:latin typeface="Courier New"/>
              <a:ea typeface="Courier New"/>
              <a:cs typeface="Courier New"/>
              <a:sym typeface="Courier New"/>
            </a:endParaRPr>
          </a:p>
          <a:p>
            <a:pPr indent="0" lvl="0" marL="914400" rtl="0" algn="l">
              <a:lnSpc>
                <a:spcPct val="115000"/>
              </a:lnSpc>
              <a:spcBef>
                <a:spcPts val="1200"/>
              </a:spcBef>
              <a:spcAft>
                <a:spcPts val="1200"/>
              </a:spcAft>
              <a:buNone/>
            </a:pPr>
            <a:r>
              <a:t/>
            </a:r>
            <a:endParaRPr sz="1600">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VERİ ÖN İŞLEME 3: STOP WORD TEMİZLİĞİ</a:t>
            </a:r>
            <a:endParaRPr/>
          </a:p>
        </p:txBody>
      </p:sp>
      <p:sp>
        <p:nvSpPr>
          <p:cNvPr id="100" name="Google Shape;100;p18"/>
          <p:cNvSpPr txBox="1"/>
          <p:nvPr>
            <p:ph idx="1" type="body"/>
          </p:nvPr>
        </p:nvSpPr>
        <p:spPr>
          <a:xfrm>
            <a:off x="108025" y="1266325"/>
            <a:ext cx="5084700" cy="3776100"/>
          </a:xfrm>
          <a:prstGeom prst="rect">
            <a:avLst/>
          </a:prstGeom>
        </p:spPr>
        <p:txBody>
          <a:bodyPr anchorCtr="0" anchor="t" bIns="91425" lIns="91425" spcFirstLastPara="1" rIns="91425" wrap="square" tIns="91425">
            <a:normAutofit fontScale="85000" lnSpcReduction="10000"/>
          </a:bodyPr>
          <a:lstStyle/>
          <a:p>
            <a:pPr indent="-331152" lvl="0" marL="457200" rtl="0" algn="l">
              <a:spcBef>
                <a:spcPts val="1200"/>
              </a:spcBef>
              <a:spcAft>
                <a:spcPts val="0"/>
              </a:spcAft>
              <a:buClr>
                <a:srgbClr val="000000"/>
              </a:buClr>
              <a:buSzPct val="100000"/>
              <a:buFont typeface="Times New Roman"/>
              <a:buChar char="●"/>
            </a:pPr>
            <a:r>
              <a:rPr lang="tr" sz="1900">
                <a:solidFill>
                  <a:srgbClr val="000000"/>
                </a:solidFill>
                <a:latin typeface="Times New Roman"/>
                <a:ea typeface="Times New Roman"/>
                <a:cs typeface="Times New Roman"/>
                <a:sym typeface="Times New Roman"/>
              </a:rPr>
              <a:t>Stop word kelimeler temizlendi.</a:t>
            </a:r>
            <a:endParaRPr sz="1900">
              <a:solidFill>
                <a:srgbClr val="000000"/>
              </a:solidFill>
              <a:latin typeface="Times New Roman"/>
              <a:ea typeface="Times New Roman"/>
              <a:cs typeface="Times New Roman"/>
              <a:sym typeface="Times New Roman"/>
            </a:endParaRPr>
          </a:p>
          <a:p>
            <a:pPr indent="457200" lvl="0" marL="0" rtl="0" algn="l">
              <a:lnSpc>
                <a:spcPct val="135714"/>
              </a:lnSpc>
              <a:spcBef>
                <a:spcPts val="1200"/>
              </a:spcBef>
              <a:spcAft>
                <a:spcPts val="0"/>
              </a:spcAft>
              <a:buNone/>
            </a:pPr>
            <a:r>
              <a:rPr lang="tr" sz="1267">
                <a:solidFill>
                  <a:srgbClr val="0000FF"/>
                </a:solidFill>
                <a:highlight>
                  <a:schemeClr val="lt1"/>
                </a:highlight>
                <a:latin typeface="Courier New"/>
                <a:ea typeface="Courier New"/>
                <a:cs typeface="Courier New"/>
                <a:sym typeface="Courier New"/>
              </a:rPr>
              <a:t>stop_words = set(stopwords.words('turkish'))</a:t>
            </a:r>
            <a:endParaRPr sz="2017">
              <a:solidFill>
                <a:srgbClr val="000000"/>
              </a:solidFill>
              <a:latin typeface="Times New Roman"/>
              <a:ea typeface="Times New Roman"/>
              <a:cs typeface="Times New Roman"/>
              <a:sym typeface="Times New Roman"/>
            </a:endParaRPr>
          </a:p>
          <a:p>
            <a:pPr indent="-331152" lvl="0" marL="457200" rtl="0" algn="l">
              <a:spcBef>
                <a:spcPts val="1200"/>
              </a:spcBef>
              <a:spcAft>
                <a:spcPts val="0"/>
              </a:spcAft>
              <a:buClr>
                <a:srgbClr val="000000"/>
              </a:buClr>
              <a:buSzPct val="100000"/>
              <a:buChar char="●"/>
            </a:pPr>
            <a:r>
              <a:rPr lang="tr" sz="1900">
                <a:solidFill>
                  <a:srgbClr val="000000"/>
                </a:solidFill>
                <a:latin typeface="Times New Roman"/>
                <a:ea typeface="Times New Roman"/>
                <a:cs typeface="Times New Roman"/>
                <a:sym typeface="Times New Roman"/>
              </a:rPr>
              <a:t>Olumsuzluk belirten kelimeler (“değil”, “yok”, “asla” vb.) için negation işaretlemesi yapıldı (not_kelime şeklinde).</a:t>
            </a:r>
            <a:endParaRPr sz="1900">
              <a:solidFill>
                <a:srgbClr val="000000"/>
              </a:solidFill>
              <a:latin typeface="Times New Roman"/>
              <a:ea typeface="Times New Roman"/>
              <a:cs typeface="Times New Roman"/>
              <a:sym typeface="Times New Roman"/>
            </a:endParaRPr>
          </a:p>
          <a:p>
            <a:pPr indent="0" lvl="0" marL="457200" rtl="0" algn="l">
              <a:lnSpc>
                <a:spcPct val="135714"/>
              </a:lnSpc>
              <a:spcBef>
                <a:spcPts val="1200"/>
              </a:spcBef>
              <a:spcAft>
                <a:spcPts val="0"/>
              </a:spcAft>
              <a:buNone/>
            </a:pPr>
            <a:r>
              <a:rPr lang="tr" sz="1050">
                <a:solidFill>
                  <a:srgbClr val="0000FF"/>
                </a:solidFill>
                <a:highlight>
                  <a:schemeClr val="lt1"/>
                </a:highlight>
                <a:latin typeface="Courier New"/>
                <a:ea typeface="Courier New"/>
                <a:cs typeface="Courier New"/>
                <a:sym typeface="Courier New"/>
              </a:rPr>
              <a:t>def add_neg_prefix(tokens, window=1):</a:t>
            </a:r>
            <a:endParaRPr sz="105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if not APPLY_NEGATION: return tokens</a:t>
            </a:r>
            <a:endParaRPr sz="105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out=[]; i=0</a:t>
            </a:r>
            <a:endParaRPr sz="105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while i &lt; len(tokens):</a:t>
            </a:r>
            <a:endParaRPr sz="105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if tokens[i] in NEGATORS:</a:t>
            </a:r>
            <a:endParaRPr sz="105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out.append("not_"+tokens[i])</a:t>
            </a:r>
            <a:endParaRPr sz="105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if i+1 &lt; len(tokens): out.append("not_"+tokens[i+1])</a:t>
            </a:r>
            <a:endParaRPr sz="105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i += 2</a:t>
            </a:r>
            <a:endParaRPr sz="105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else:</a:t>
            </a:r>
            <a:endParaRPr sz="105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out.append(tokens[i]); i += 1</a:t>
            </a:r>
            <a:endParaRPr sz="105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return out</a:t>
            </a:r>
            <a:endParaRPr/>
          </a:p>
        </p:txBody>
      </p:sp>
      <p:sp>
        <p:nvSpPr>
          <p:cNvPr id="101" name="Google Shape;101;p18"/>
          <p:cNvSpPr txBox="1"/>
          <p:nvPr/>
        </p:nvSpPr>
        <p:spPr>
          <a:xfrm>
            <a:off x="5192725" y="1266325"/>
            <a:ext cx="3802500" cy="3701100"/>
          </a:xfrm>
          <a:prstGeom prst="rect">
            <a:avLst/>
          </a:prstGeom>
          <a:noFill/>
          <a:ln>
            <a:noFill/>
          </a:ln>
        </p:spPr>
        <p:txBody>
          <a:bodyPr anchorCtr="0" anchor="t" bIns="91425" lIns="91425" spcFirstLastPara="1" rIns="91425" wrap="square" tIns="91425">
            <a:spAutoFit/>
          </a:bodyPr>
          <a:lstStyle/>
          <a:p>
            <a:pPr indent="-349250" lvl="0" marL="457200" rtl="0" algn="l">
              <a:lnSpc>
                <a:spcPct val="115000"/>
              </a:lnSpc>
              <a:spcBef>
                <a:spcPts val="1200"/>
              </a:spcBef>
              <a:spcAft>
                <a:spcPts val="0"/>
              </a:spcAft>
              <a:buClr>
                <a:srgbClr val="000000"/>
              </a:buClr>
              <a:buSzPts val="1900"/>
              <a:buFont typeface="Times New Roman"/>
              <a:buChar char="●"/>
            </a:pPr>
            <a:r>
              <a:rPr lang="tr" sz="1900">
                <a:latin typeface="Times New Roman"/>
                <a:ea typeface="Times New Roman"/>
                <a:cs typeface="Times New Roman"/>
                <a:sym typeface="Times New Roman"/>
              </a:rPr>
              <a:t>Ekstra stop words (örn. “ürün”, “orjinal”, ...) çıkarıldı.</a:t>
            </a:r>
            <a:endParaRPr sz="1900">
              <a:latin typeface="Times New Roman"/>
              <a:ea typeface="Times New Roman"/>
              <a:cs typeface="Times New Roman"/>
              <a:sym typeface="Times New Roman"/>
            </a:endParaRPr>
          </a:p>
          <a:p>
            <a:pPr indent="0" lvl="0" marL="457200" rtl="0" algn="l">
              <a:lnSpc>
                <a:spcPct val="135714"/>
              </a:lnSpc>
              <a:spcBef>
                <a:spcPts val="1200"/>
              </a:spcBef>
              <a:spcAft>
                <a:spcPts val="0"/>
              </a:spcAft>
              <a:buNone/>
            </a:pPr>
            <a:r>
              <a:rPr lang="tr" sz="1050">
                <a:solidFill>
                  <a:srgbClr val="0000FF"/>
                </a:solidFill>
                <a:highlight>
                  <a:schemeClr val="lt1"/>
                </a:highlight>
                <a:latin typeface="Courier New"/>
                <a:ea typeface="Courier New"/>
                <a:cs typeface="Courier New"/>
                <a:sym typeface="Courier New"/>
              </a:rPr>
              <a:t>EXTRA_STOPS = { "urun","ürün","urunu","ürünü","urunü","üründe","orjinal","orijinal","gibi","falan","filan","vesaire","vs",</a:t>
            </a:r>
            <a:endParaRPr sz="105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"ayrica","ancak","lakin","zaten","yani",...}</a:t>
            </a:r>
            <a:endParaRPr sz="105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t/>
            </a:r>
            <a:endParaRPr sz="105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def filter_stopwords(tokens):</a:t>
            </a:r>
            <a:endParaRPr sz="105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return [w for w in tokens if w not in stop_all] if APPLY_STOPWORDS else tokens</a:t>
            </a:r>
            <a:endParaRPr sz="1800">
              <a:solidFill>
                <a:schemeClr val="dk2"/>
              </a:solidFill>
              <a:latin typeface="Open Sans"/>
              <a:ea typeface="Open Sans"/>
              <a:cs typeface="Open Sans"/>
              <a:sym typeface="Open Sans"/>
            </a:endParaRPr>
          </a:p>
          <a:p>
            <a:pPr indent="0" lvl="0" marL="0" rtl="0" algn="l">
              <a:spcBef>
                <a:spcPts val="0"/>
              </a:spcBef>
              <a:spcAft>
                <a:spcPts val="0"/>
              </a:spcAft>
              <a:buNone/>
            </a:pPr>
            <a:r>
              <a:t/>
            </a:r>
            <a:endParaRPr sz="1800">
              <a:solidFill>
                <a:schemeClr val="dk2"/>
              </a:solidFill>
              <a:latin typeface="Open Sans"/>
              <a:ea typeface="Open Sans"/>
              <a:cs typeface="Open Sans"/>
              <a:sym typeface="Open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311700" y="445025"/>
            <a:ext cx="88323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VERİ ARTIRMA: TÜRKÇE BERT ile VERİ DENGELEME</a:t>
            </a:r>
            <a:endParaRPr/>
          </a:p>
        </p:txBody>
      </p:sp>
      <p:sp>
        <p:nvSpPr>
          <p:cNvPr id="107" name="Google Shape;107;p19"/>
          <p:cNvSpPr txBox="1"/>
          <p:nvPr>
            <p:ph idx="1" type="body"/>
          </p:nvPr>
        </p:nvSpPr>
        <p:spPr>
          <a:xfrm>
            <a:off x="311700" y="1266325"/>
            <a:ext cx="8133900" cy="37176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tr">
                <a:solidFill>
                  <a:srgbClr val="000000"/>
                </a:solidFill>
                <a:latin typeface="Times New Roman"/>
                <a:ea typeface="Times New Roman"/>
                <a:cs typeface="Times New Roman"/>
                <a:sym typeface="Times New Roman"/>
              </a:rPr>
              <a:t>Duygu sınıflarındaki dengesizliği azaltmak için nlpaug kütüphanesi içe aktarıldı ve Türkçe BERT modeli kullanılarak veri artırma uygulandı.</a:t>
            </a:r>
            <a:endParaRPr sz="1900">
              <a:solidFill>
                <a:srgbClr val="000000"/>
              </a:solidFill>
              <a:latin typeface="Times New Roman"/>
              <a:ea typeface="Times New Roman"/>
              <a:cs typeface="Times New Roman"/>
              <a:sym typeface="Times New Roman"/>
            </a:endParaRPr>
          </a:p>
          <a:p>
            <a:pPr indent="-342900" lvl="0" marL="457200" rtl="0" algn="l">
              <a:spcBef>
                <a:spcPts val="1200"/>
              </a:spcBef>
              <a:spcAft>
                <a:spcPts val="0"/>
              </a:spcAft>
              <a:buClr>
                <a:srgbClr val="000000"/>
              </a:buClr>
              <a:buSzPts val="1800"/>
              <a:buFont typeface="Arial"/>
              <a:buChar char="●"/>
            </a:pPr>
            <a:r>
              <a:rPr lang="tr">
                <a:solidFill>
                  <a:srgbClr val="000000"/>
                </a:solidFill>
                <a:latin typeface="Times New Roman"/>
                <a:ea typeface="Times New Roman"/>
                <a:cs typeface="Times New Roman"/>
                <a:sym typeface="Times New Roman"/>
              </a:rPr>
              <a:t>dbmdz/bert-base-turkish-cased modeliyle çalışılmıştır.</a:t>
            </a:r>
            <a:endParaRPr>
              <a:solidFill>
                <a:srgbClr val="000000"/>
              </a:solidFill>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Times New Roman"/>
              <a:buChar char="●"/>
            </a:pPr>
            <a:r>
              <a:rPr lang="tr">
                <a:solidFill>
                  <a:srgbClr val="000000"/>
                </a:solidFill>
                <a:latin typeface="Times New Roman"/>
                <a:ea typeface="Times New Roman"/>
                <a:cs typeface="Times New Roman"/>
                <a:sym typeface="Times New Roman"/>
              </a:rPr>
              <a:t>Eksik olan sınıf ("notr") için cümlelerde:</a:t>
            </a:r>
            <a:endParaRPr>
              <a:solidFill>
                <a:srgbClr val="000000"/>
              </a:solidFill>
              <a:latin typeface="Times New Roman"/>
              <a:ea typeface="Times New Roman"/>
              <a:cs typeface="Times New Roman"/>
              <a:sym typeface="Times New Roman"/>
            </a:endParaRPr>
          </a:p>
          <a:p>
            <a:pPr indent="-342900" lvl="1" marL="914400" rtl="0" algn="l">
              <a:spcBef>
                <a:spcPts val="0"/>
              </a:spcBef>
              <a:spcAft>
                <a:spcPts val="0"/>
              </a:spcAft>
              <a:buClr>
                <a:srgbClr val="000000"/>
              </a:buClr>
              <a:buSzPts val="1800"/>
              <a:buFont typeface="Arial"/>
              <a:buChar char="○"/>
            </a:pPr>
            <a:r>
              <a:rPr lang="tr" sz="1800">
                <a:solidFill>
                  <a:srgbClr val="000000"/>
                </a:solidFill>
                <a:latin typeface="Times New Roman"/>
                <a:ea typeface="Times New Roman"/>
                <a:cs typeface="Times New Roman"/>
                <a:sym typeface="Times New Roman"/>
              </a:rPr>
              <a:t>Kelime ikame (substitute) ve</a:t>
            </a:r>
            <a:endParaRPr sz="1800">
              <a:solidFill>
                <a:srgbClr val="000000"/>
              </a:solidFill>
              <a:latin typeface="Times New Roman"/>
              <a:ea typeface="Times New Roman"/>
              <a:cs typeface="Times New Roman"/>
              <a:sym typeface="Times New Roman"/>
            </a:endParaRPr>
          </a:p>
          <a:p>
            <a:pPr indent="0" lvl="0" marL="914400" rtl="0" algn="l">
              <a:spcBef>
                <a:spcPts val="1200"/>
              </a:spcBef>
              <a:spcAft>
                <a:spcPts val="0"/>
              </a:spcAft>
              <a:buNone/>
            </a:pPr>
            <a:r>
              <a:rPr lang="tr" sz="1600">
                <a:solidFill>
                  <a:srgbClr val="188038"/>
                </a:solidFill>
                <a:latin typeface="Times New Roman"/>
                <a:ea typeface="Times New Roman"/>
                <a:cs typeface="Times New Roman"/>
                <a:sym typeface="Times New Roman"/>
              </a:rPr>
              <a:t>substitute</a:t>
            </a:r>
            <a:r>
              <a:rPr lang="tr" sz="1600">
                <a:solidFill>
                  <a:srgbClr val="000000"/>
                </a:solidFill>
                <a:latin typeface="Times New Roman"/>
                <a:ea typeface="Times New Roman"/>
                <a:cs typeface="Times New Roman"/>
                <a:sym typeface="Times New Roman"/>
              </a:rPr>
              <a:t>: “ürün çok güzel” → “ürün oldukça güzel”</a:t>
            </a:r>
            <a:endParaRPr sz="2300">
              <a:solidFill>
                <a:srgbClr val="000000"/>
              </a:solidFill>
              <a:latin typeface="Times New Roman"/>
              <a:ea typeface="Times New Roman"/>
              <a:cs typeface="Times New Roman"/>
              <a:sym typeface="Times New Roman"/>
            </a:endParaRPr>
          </a:p>
          <a:p>
            <a:pPr indent="-342900" lvl="1" marL="914400" rtl="0" algn="l">
              <a:spcBef>
                <a:spcPts val="1200"/>
              </a:spcBef>
              <a:spcAft>
                <a:spcPts val="0"/>
              </a:spcAft>
              <a:buClr>
                <a:srgbClr val="000000"/>
              </a:buClr>
              <a:buSzPts val="1800"/>
              <a:buFont typeface="Arial"/>
              <a:buChar char="○"/>
            </a:pPr>
            <a:r>
              <a:rPr lang="tr" sz="1800">
                <a:solidFill>
                  <a:srgbClr val="000000"/>
                </a:solidFill>
                <a:latin typeface="Times New Roman"/>
                <a:ea typeface="Times New Roman"/>
                <a:cs typeface="Times New Roman"/>
                <a:sym typeface="Times New Roman"/>
              </a:rPr>
              <a:t>Kelime ekleme (insert) teknikleri kullanılmıştır.</a:t>
            </a:r>
            <a:endParaRPr sz="1800">
              <a:solidFill>
                <a:srgbClr val="000000"/>
              </a:solidFill>
              <a:latin typeface="Times New Roman"/>
              <a:ea typeface="Times New Roman"/>
              <a:cs typeface="Times New Roman"/>
              <a:sym typeface="Times New Roman"/>
            </a:endParaRPr>
          </a:p>
          <a:p>
            <a:pPr indent="0" lvl="0" marL="914400" rtl="0" algn="l">
              <a:spcBef>
                <a:spcPts val="1200"/>
              </a:spcBef>
              <a:spcAft>
                <a:spcPts val="0"/>
              </a:spcAft>
              <a:buNone/>
            </a:pPr>
            <a:r>
              <a:rPr lang="tr" sz="1600">
                <a:solidFill>
                  <a:srgbClr val="188038"/>
                </a:solidFill>
                <a:latin typeface="Times New Roman"/>
                <a:ea typeface="Times New Roman"/>
                <a:cs typeface="Times New Roman"/>
                <a:sym typeface="Times New Roman"/>
              </a:rPr>
              <a:t>insert</a:t>
            </a:r>
            <a:r>
              <a:rPr lang="tr" sz="1600">
                <a:solidFill>
                  <a:srgbClr val="000000"/>
                </a:solidFill>
                <a:latin typeface="Times New Roman"/>
                <a:ea typeface="Times New Roman"/>
                <a:cs typeface="Times New Roman"/>
                <a:sym typeface="Times New Roman"/>
              </a:rPr>
              <a:t>: “paket hasarlı geldi” → “paket muhtemelen hasarlı geldi”</a:t>
            </a:r>
            <a:endParaRPr sz="2300">
              <a:solidFill>
                <a:srgbClr val="000000"/>
              </a:solidFill>
              <a:latin typeface="Times New Roman"/>
              <a:ea typeface="Times New Roman"/>
              <a:cs typeface="Times New Roman"/>
              <a:sym typeface="Times New Roman"/>
            </a:endParaRPr>
          </a:p>
          <a:p>
            <a:pPr indent="-342900" lvl="0" marL="457200" rtl="0" algn="l">
              <a:spcBef>
                <a:spcPts val="1200"/>
              </a:spcBef>
              <a:spcAft>
                <a:spcPts val="0"/>
              </a:spcAft>
              <a:buClr>
                <a:srgbClr val="000000"/>
              </a:buClr>
              <a:buSzPts val="1800"/>
              <a:buFont typeface="Arial"/>
              <a:buChar char="●"/>
            </a:pPr>
            <a:r>
              <a:rPr lang="tr">
                <a:solidFill>
                  <a:srgbClr val="000000"/>
                </a:solidFill>
                <a:latin typeface="Times New Roman"/>
                <a:ea typeface="Times New Roman"/>
                <a:cs typeface="Times New Roman"/>
                <a:sym typeface="Times New Roman"/>
              </a:rPr>
              <a:t>Hedef: Her sınıfın en az 10.000 örneğe ulaşmasıdır.</a:t>
            </a:r>
            <a:endParaRPr>
              <a:solidFill>
                <a:srgbClr val="1E1E1E"/>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311700" y="1749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VERİ SETİNİ BÖLME VE TOKENİZASYON</a:t>
            </a:r>
            <a:endParaRPr/>
          </a:p>
        </p:txBody>
      </p:sp>
      <p:sp>
        <p:nvSpPr>
          <p:cNvPr id="113" name="Google Shape;113;p20"/>
          <p:cNvSpPr txBox="1"/>
          <p:nvPr>
            <p:ph idx="1" type="body"/>
          </p:nvPr>
        </p:nvSpPr>
        <p:spPr>
          <a:xfrm>
            <a:off x="311700" y="749625"/>
            <a:ext cx="8520600" cy="4494900"/>
          </a:xfrm>
          <a:prstGeom prst="rect">
            <a:avLst/>
          </a:prstGeom>
        </p:spPr>
        <p:txBody>
          <a:bodyPr anchorCtr="0" anchor="t" bIns="91425" lIns="91425" spcFirstLastPara="1" rIns="91425" wrap="square" tIns="91425">
            <a:noAutofit/>
          </a:bodyPr>
          <a:lstStyle/>
          <a:p>
            <a:pPr indent="-317500" lvl="0" marL="457200" rtl="0" algn="l">
              <a:lnSpc>
                <a:spcPct val="160000"/>
              </a:lnSpc>
              <a:spcBef>
                <a:spcPts val="0"/>
              </a:spcBef>
              <a:spcAft>
                <a:spcPts val="0"/>
              </a:spcAft>
              <a:buClr>
                <a:srgbClr val="403011"/>
              </a:buClr>
              <a:buSzPts val="1400"/>
              <a:buFont typeface="Times New Roman"/>
              <a:buChar char="●"/>
            </a:pPr>
            <a:r>
              <a:rPr lang="tr" sz="1400">
                <a:solidFill>
                  <a:srgbClr val="403011"/>
                </a:solidFill>
                <a:latin typeface="Times New Roman"/>
                <a:ea typeface="Times New Roman"/>
                <a:cs typeface="Times New Roman"/>
                <a:sym typeface="Times New Roman"/>
              </a:rPr>
              <a:t>Veri seti, eğitim ve doğrulama kümelerine ayrıldı. </a:t>
            </a:r>
            <a:endParaRPr sz="1400">
              <a:solidFill>
                <a:srgbClr val="403011"/>
              </a:solidFill>
              <a:latin typeface="Times New Roman"/>
              <a:ea typeface="Times New Roman"/>
              <a:cs typeface="Times New Roman"/>
              <a:sym typeface="Times New Roman"/>
            </a:endParaRPr>
          </a:p>
          <a:p>
            <a:pPr indent="0" lvl="0" marL="914400" rtl="0" algn="l">
              <a:lnSpc>
                <a:spcPct val="135714"/>
              </a:lnSpc>
              <a:spcBef>
                <a:spcPts val="0"/>
              </a:spcBef>
              <a:spcAft>
                <a:spcPts val="0"/>
              </a:spcAft>
              <a:buNone/>
            </a:pPr>
            <a:r>
              <a:rPr lang="tr" sz="1100">
                <a:solidFill>
                  <a:srgbClr val="0000FF"/>
                </a:solidFill>
                <a:highlight>
                  <a:schemeClr val="lt1"/>
                </a:highlight>
                <a:latin typeface="Courier New"/>
                <a:ea typeface="Courier New"/>
                <a:cs typeface="Courier New"/>
                <a:sym typeface="Courier New"/>
              </a:rPr>
              <a:t>X_train, X_val, y_train, y_val = train_test_split(</a:t>
            </a:r>
            <a:endParaRPr sz="1100">
              <a:solidFill>
                <a:srgbClr val="0000FF"/>
              </a:solidFill>
              <a:highlight>
                <a:schemeClr val="lt1"/>
              </a:highlight>
              <a:latin typeface="Courier New"/>
              <a:ea typeface="Courier New"/>
              <a:cs typeface="Courier New"/>
              <a:sym typeface="Courier New"/>
            </a:endParaRPr>
          </a:p>
          <a:p>
            <a:pPr indent="0" lvl="0" marL="914400" rtl="0" algn="l">
              <a:lnSpc>
                <a:spcPct val="135714"/>
              </a:lnSpc>
              <a:spcBef>
                <a:spcPts val="0"/>
              </a:spcBef>
              <a:spcAft>
                <a:spcPts val="0"/>
              </a:spcAft>
              <a:buNone/>
            </a:pPr>
            <a:r>
              <a:rPr lang="tr" sz="1100">
                <a:solidFill>
                  <a:srgbClr val="0000FF"/>
                </a:solidFill>
                <a:highlight>
                  <a:schemeClr val="lt1"/>
                </a:highlight>
                <a:latin typeface="Courier New"/>
                <a:ea typeface="Courier New"/>
                <a:cs typeface="Courier New"/>
                <a:sym typeface="Courier New"/>
              </a:rPr>
              <a:t>    df_bal["yorumlar"], df_bal["duygu"],</a:t>
            </a:r>
            <a:endParaRPr sz="1100">
              <a:solidFill>
                <a:srgbClr val="0000FF"/>
              </a:solidFill>
              <a:highlight>
                <a:schemeClr val="lt1"/>
              </a:highlight>
              <a:latin typeface="Courier New"/>
              <a:ea typeface="Courier New"/>
              <a:cs typeface="Courier New"/>
              <a:sym typeface="Courier New"/>
            </a:endParaRPr>
          </a:p>
          <a:p>
            <a:pPr indent="0" lvl="0" marL="914400" rtl="0" algn="l">
              <a:lnSpc>
                <a:spcPct val="135714"/>
              </a:lnSpc>
              <a:spcBef>
                <a:spcPts val="0"/>
              </a:spcBef>
              <a:spcAft>
                <a:spcPts val="0"/>
              </a:spcAft>
              <a:buNone/>
            </a:pPr>
            <a:r>
              <a:rPr lang="tr" sz="1100">
                <a:solidFill>
                  <a:srgbClr val="0000FF"/>
                </a:solidFill>
                <a:highlight>
                  <a:schemeClr val="lt1"/>
                </a:highlight>
                <a:latin typeface="Courier New"/>
                <a:ea typeface="Courier New"/>
                <a:cs typeface="Courier New"/>
                <a:sym typeface="Courier New"/>
              </a:rPr>
              <a:t>    test_size=0.2,</a:t>
            </a:r>
            <a:endParaRPr sz="1100">
              <a:solidFill>
                <a:srgbClr val="0000FF"/>
              </a:solidFill>
              <a:highlight>
                <a:schemeClr val="lt1"/>
              </a:highlight>
              <a:latin typeface="Courier New"/>
              <a:ea typeface="Courier New"/>
              <a:cs typeface="Courier New"/>
              <a:sym typeface="Courier New"/>
            </a:endParaRPr>
          </a:p>
          <a:p>
            <a:pPr indent="0" lvl="0" marL="914400" rtl="0" algn="l">
              <a:lnSpc>
                <a:spcPct val="135714"/>
              </a:lnSpc>
              <a:spcBef>
                <a:spcPts val="0"/>
              </a:spcBef>
              <a:spcAft>
                <a:spcPts val="0"/>
              </a:spcAft>
              <a:buNone/>
            </a:pPr>
            <a:r>
              <a:rPr lang="tr" sz="1100">
                <a:solidFill>
                  <a:srgbClr val="0000FF"/>
                </a:solidFill>
                <a:highlight>
                  <a:schemeClr val="lt1"/>
                </a:highlight>
                <a:latin typeface="Courier New"/>
                <a:ea typeface="Courier New"/>
                <a:cs typeface="Courier New"/>
                <a:sym typeface="Courier New"/>
              </a:rPr>
              <a:t>    random_state=42,</a:t>
            </a:r>
            <a:endParaRPr sz="1100">
              <a:solidFill>
                <a:srgbClr val="0000FF"/>
              </a:solidFill>
              <a:highlight>
                <a:schemeClr val="lt1"/>
              </a:highlight>
              <a:latin typeface="Courier New"/>
              <a:ea typeface="Courier New"/>
              <a:cs typeface="Courier New"/>
              <a:sym typeface="Courier New"/>
            </a:endParaRPr>
          </a:p>
          <a:p>
            <a:pPr indent="0" lvl="0" marL="914400" rtl="0" algn="l">
              <a:lnSpc>
                <a:spcPct val="135714"/>
              </a:lnSpc>
              <a:spcBef>
                <a:spcPts val="0"/>
              </a:spcBef>
              <a:spcAft>
                <a:spcPts val="0"/>
              </a:spcAft>
              <a:buNone/>
            </a:pPr>
            <a:r>
              <a:rPr lang="tr" sz="1100">
                <a:solidFill>
                  <a:srgbClr val="0000FF"/>
                </a:solidFill>
                <a:highlight>
                  <a:schemeClr val="lt1"/>
                </a:highlight>
                <a:latin typeface="Courier New"/>
                <a:ea typeface="Courier New"/>
                <a:cs typeface="Courier New"/>
                <a:sym typeface="Courier New"/>
              </a:rPr>
              <a:t>    stratify=df_bal["duygu"]</a:t>
            </a:r>
            <a:endParaRPr sz="1100">
              <a:solidFill>
                <a:srgbClr val="0000FF"/>
              </a:solidFill>
              <a:highlight>
                <a:schemeClr val="lt1"/>
              </a:highlight>
              <a:latin typeface="Courier New"/>
              <a:ea typeface="Courier New"/>
              <a:cs typeface="Courier New"/>
              <a:sym typeface="Courier New"/>
            </a:endParaRPr>
          </a:p>
          <a:p>
            <a:pPr indent="0" lvl="0" marL="914400" rtl="0" algn="l">
              <a:lnSpc>
                <a:spcPct val="135714"/>
              </a:lnSpc>
              <a:spcBef>
                <a:spcPts val="0"/>
              </a:spcBef>
              <a:spcAft>
                <a:spcPts val="0"/>
              </a:spcAft>
              <a:buNone/>
            </a:pPr>
            <a:r>
              <a:rPr lang="tr" sz="1100">
                <a:solidFill>
                  <a:srgbClr val="0000FF"/>
                </a:solidFill>
                <a:highlight>
                  <a:schemeClr val="lt1"/>
                </a:highlight>
                <a:latin typeface="Courier New"/>
                <a:ea typeface="Courier New"/>
                <a:cs typeface="Courier New"/>
                <a:sym typeface="Courier New"/>
              </a:rPr>
              <a:t>)</a:t>
            </a:r>
            <a:endParaRPr sz="1100">
              <a:solidFill>
                <a:srgbClr val="0000FF"/>
              </a:solidFill>
              <a:highlight>
                <a:schemeClr val="lt1"/>
              </a:highlight>
              <a:latin typeface="Courier New"/>
              <a:ea typeface="Courier New"/>
              <a:cs typeface="Courier New"/>
              <a:sym typeface="Courier New"/>
            </a:endParaRPr>
          </a:p>
          <a:p>
            <a:pPr indent="-317500" lvl="0" marL="457200" rtl="0" algn="l">
              <a:lnSpc>
                <a:spcPct val="160000"/>
              </a:lnSpc>
              <a:spcBef>
                <a:spcPts val="0"/>
              </a:spcBef>
              <a:spcAft>
                <a:spcPts val="0"/>
              </a:spcAft>
              <a:buClr>
                <a:srgbClr val="403011"/>
              </a:buClr>
              <a:buSzPts val="1400"/>
              <a:buFont typeface="Times New Roman"/>
              <a:buChar char="●"/>
            </a:pPr>
            <a:r>
              <a:rPr lang="tr" sz="1400">
                <a:solidFill>
                  <a:srgbClr val="403011"/>
                </a:solidFill>
                <a:latin typeface="Times New Roman"/>
                <a:ea typeface="Times New Roman"/>
                <a:cs typeface="Times New Roman"/>
                <a:sym typeface="Times New Roman"/>
              </a:rPr>
              <a:t>Metinleri sayısal dizilere dönüştürmek için Keras Tokenizer kullanıldı ve diziler sabit uzunluğa getirildi.</a:t>
            </a:r>
            <a:endParaRPr sz="1400">
              <a:solidFill>
                <a:srgbClr val="403011"/>
              </a:solidFill>
              <a:latin typeface="Times New Roman"/>
              <a:ea typeface="Times New Roman"/>
              <a:cs typeface="Times New Roman"/>
              <a:sym typeface="Times New Roman"/>
            </a:endParaRPr>
          </a:p>
          <a:p>
            <a:pPr indent="0" lvl="0" marL="914400" rtl="0" algn="l">
              <a:lnSpc>
                <a:spcPct val="135714"/>
              </a:lnSpc>
              <a:spcBef>
                <a:spcPts val="0"/>
              </a:spcBef>
              <a:spcAft>
                <a:spcPts val="0"/>
              </a:spcAft>
              <a:buNone/>
            </a:pPr>
            <a:r>
              <a:rPr lang="tr" sz="1100">
                <a:solidFill>
                  <a:srgbClr val="0000FF"/>
                </a:solidFill>
                <a:highlight>
                  <a:schemeClr val="lt1"/>
                </a:highlight>
                <a:latin typeface="Courier New"/>
                <a:ea typeface="Courier New"/>
                <a:cs typeface="Courier New"/>
                <a:sym typeface="Courier New"/>
              </a:rPr>
              <a:t>tok = Tokenizer(num_words=MAX_VOCAB, oov_token="&lt;OOV&gt;")</a:t>
            </a:r>
            <a:endParaRPr sz="1100">
              <a:solidFill>
                <a:srgbClr val="0000FF"/>
              </a:solidFill>
              <a:highlight>
                <a:schemeClr val="lt1"/>
              </a:highlight>
              <a:latin typeface="Courier New"/>
              <a:ea typeface="Courier New"/>
              <a:cs typeface="Courier New"/>
              <a:sym typeface="Courier New"/>
            </a:endParaRPr>
          </a:p>
          <a:p>
            <a:pPr indent="0" lvl="0" marL="914400" rtl="0" algn="l">
              <a:lnSpc>
                <a:spcPct val="135714"/>
              </a:lnSpc>
              <a:spcBef>
                <a:spcPts val="0"/>
              </a:spcBef>
              <a:spcAft>
                <a:spcPts val="0"/>
              </a:spcAft>
              <a:buNone/>
            </a:pPr>
            <a:r>
              <a:rPr lang="tr" sz="1100">
                <a:solidFill>
                  <a:srgbClr val="0000FF"/>
                </a:solidFill>
                <a:highlight>
                  <a:schemeClr val="lt1"/>
                </a:highlight>
                <a:latin typeface="Courier New"/>
                <a:ea typeface="Courier New"/>
                <a:cs typeface="Courier New"/>
                <a:sym typeface="Courier New"/>
              </a:rPr>
              <a:t>tok.fit_on_texts(train_df["yorumlar"])</a:t>
            </a:r>
            <a:endParaRPr sz="1100">
              <a:solidFill>
                <a:srgbClr val="0000FF"/>
              </a:solidFill>
              <a:highlight>
                <a:schemeClr val="lt1"/>
              </a:highlight>
              <a:latin typeface="Courier New"/>
              <a:ea typeface="Courier New"/>
              <a:cs typeface="Courier New"/>
              <a:sym typeface="Courier New"/>
            </a:endParaRPr>
          </a:p>
          <a:p>
            <a:pPr indent="-311150" lvl="0" marL="457200" rtl="0" algn="l">
              <a:lnSpc>
                <a:spcPct val="135714"/>
              </a:lnSpc>
              <a:spcBef>
                <a:spcPts val="0"/>
              </a:spcBef>
              <a:spcAft>
                <a:spcPts val="0"/>
              </a:spcAft>
              <a:buClr>
                <a:srgbClr val="1E1E1E"/>
              </a:buClr>
              <a:buSzPts val="1300"/>
              <a:buFont typeface="Courier New"/>
              <a:buChar char="●"/>
            </a:pPr>
            <a:r>
              <a:rPr lang="tr" sz="1300">
                <a:solidFill>
                  <a:srgbClr val="1E1E1E"/>
                </a:solidFill>
                <a:highlight>
                  <a:schemeClr val="lt1"/>
                </a:highlight>
                <a:latin typeface="Courier New"/>
                <a:ea typeface="Courier New"/>
                <a:cs typeface="Courier New"/>
                <a:sym typeface="Courier New"/>
              </a:rPr>
              <a:t>Etiketler sayısallaştırıldı.</a:t>
            </a:r>
            <a:endParaRPr sz="1300">
              <a:solidFill>
                <a:srgbClr val="1E1E1E"/>
              </a:solidFill>
              <a:highlight>
                <a:schemeClr val="lt1"/>
              </a:highlight>
              <a:latin typeface="Courier New"/>
              <a:ea typeface="Courier New"/>
              <a:cs typeface="Courier New"/>
              <a:sym typeface="Courier New"/>
            </a:endParaRPr>
          </a:p>
          <a:p>
            <a:pPr indent="0" lvl="0" marL="914400" rtl="0" algn="l">
              <a:lnSpc>
                <a:spcPct val="135714"/>
              </a:lnSpc>
              <a:spcBef>
                <a:spcPts val="0"/>
              </a:spcBef>
              <a:spcAft>
                <a:spcPts val="0"/>
              </a:spcAft>
              <a:buNone/>
            </a:pPr>
            <a:r>
              <a:rPr lang="tr" sz="1100">
                <a:solidFill>
                  <a:srgbClr val="0000FF"/>
                </a:solidFill>
                <a:highlight>
                  <a:schemeClr val="lt1"/>
                </a:highlight>
                <a:latin typeface="Courier New"/>
                <a:ea typeface="Courier New"/>
                <a:cs typeface="Courier New"/>
                <a:sym typeface="Courier New"/>
              </a:rPr>
              <a:t>le = LabelEncoder()</a:t>
            </a:r>
            <a:endParaRPr sz="1100">
              <a:solidFill>
                <a:srgbClr val="0000FF"/>
              </a:solidFill>
              <a:highlight>
                <a:schemeClr val="lt1"/>
              </a:highlight>
              <a:latin typeface="Courier New"/>
              <a:ea typeface="Courier New"/>
              <a:cs typeface="Courier New"/>
              <a:sym typeface="Courier New"/>
            </a:endParaRPr>
          </a:p>
          <a:p>
            <a:pPr indent="0" lvl="0" marL="914400" rtl="0" algn="l">
              <a:lnSpc>
                <a:spcPct val="135714"/>
              </a:lnSpc>
              <a:spcBef>
                <a:spcPts val="0"/>
              </a:spcBef>
              <a:spcAft>
                <a:spcPts val="0"/>
              </a:spcAft>
              <a:buNone/>
            </a:pPr>
            <a:r>
              <a:rPr lang="tr" sz="1100">
                <a:solidFill>
                  <a:srgbClr val="0000FF"/>
                </a:solidFill>
                <a:highlight>
                  <a:schemeClr val="lt1"/>
                </a:highlight>
                <a:latin typeface="Courier New"/>
                <a:ea typeface="Courier New"/>
                <a:cs typeface="Courier New"/>
                <a:sym typeface="Courier New"/>
              </a:rPr>
              <a:t>y_train_enc = le.fit_transform(train_df["duygu"])</a:t>
            </a:r>
            <a:endParaRPr sz="1100">
              <a:solidFill>
                <a:srgbClr val="0000FF"/>
              </a:solidFill>
              <a:highlight>
                <a:schemeClr val="lt1"/>
              </a:highlight>
              <a:latin typeface="Courier New"/>
              <a:ea typeface="Courier New"/>
              <a:cs typeface="Courier New"/>
              <a:sym typeface="Courier New"/>
            </a:endParaRPr>
          </a:p>
          <a:p>
            <a:pPr indent="0" lvl="0" marL="914400" rtl="0" algn="l">
              <a:lnSpc>
                <a:spcPct val="135714"/>
              </a:lnSpc>
              <a:spcBef>
                <a:spcPts val="0"/>
              </a:spcBef>
              <a:spcAft>
                <a:spcPts val="0"/>
              </a:spcAft>
              <a:buNone/>
            </a:pPr>
            <a:r>
              <a:rPr lang="tr" sz="1100">
                <a:solidFill>
                  <a:srgbClr val="0000FF"/>
                </a:solidFill>
                <a:highlight>
                  <a:schemeClr val="lt1"/>
                </a:highlight>
                <a:latin typeface="Courier New"/>
                <a:ea typeface="Courier New"/>
                <a:cs typeface="Courier New"/>
                <a:sym typeface="Courier New"/>
              </a:rPr>
              <a:t>y_val_enc   = le.transform(val_df["duygu"])</a:t>
            </a:r>
            <a:endParaRPr sz="1100">
              <a:solidFill>
                <a:srgbClr val="0000FF"/>
              </a:solidFill>
              <a:highlight>
                <a:schemeClr val="lt1"/>
              </a:highlight>
              <a:latin typeface="Courier New"/>
              <a:ea typeface="Courier New"/>
              <a:cs typeface="Courier New"/>
              <a:sym typeface="Courier New"/>
            </a:endParaRPr>
          </a:p>
          <a:p>
            <a:pPr indent="-311150" lvl="0" marL="457200" rtl="0" algn="l">
              <a:lnSpc>
                <a:spcPct val="135714"/>
              </a:lnSpc>
              <a:spcBef>
                <a:spcPts val="0"/>
              </a:spcBef>
              <a:spcAft>
                <a:spcPts val="0"/>
              </a:spcAft>
              <a:buClr>
                <a:srgbClr val="000000"/>
              </a:buClr>
              <a:buSzPts val="1300"/>
              <a:buFont typeface="Courier New"/>
              <a:buChar char="●"/>
            </a:pPr>
            <a:r>
              <a:rPr lang="tr" sz="1300">
                <a:solidFill>
                  <a:srgbClr val="000000"/>
                </a:solidFill>
                <a:highlight>
                  <a:schemeClr val="lt1"/>
                </a:highlight>
                <a:latin typeface="Courier New"/>
                <a:ea typeface="Courier New"/>
                <a:cs typeface="Courier New"/>
                <a:sym typeface="Courier New"/>
              </a:rPr>
              <a:t>Etiketler kategorik hale getirildi.</a:t>
            </a:r>
            <a:endParaRPr sz="1300">
              <a:solidFill>
                <a:srgbClr val="000000"/>
              </a:solidFill>
              <a:highlight>
                <a:schemeClr val="lt1"/>
              </a:highlight>
              <a:latin typeface="Courier New"/>
              <a:ea typeface="Courier New"/>
              <a:cs typeface="Courier New"/>
              <a:sym typeface="Courier New"/>
            </a:endParaRPr>
          </a:p>
          <a:p>
            <a:pPr indent="0" lvl="0" marL="914400" rtl="0" algn="l">
              <a:lnSpc>
                <a:spcPct val="135714"/>
              </a:lnSpc>
              <a:spcBef>
                <a:spcPts val="0"/>
              </a:spcBef>
              <a:spcAft>
                <a:spcPts val="0"/>
              </a:spcAft>
              <a:buNone/>
            </a:pPr>
            <a:r>
              <a:rPr lang="tr" sz="950">
                <a:solidFill>
                  <a:srgbClr val="0000FF"/>
                </a:solidFill>
                <a:highlight>
                  <a:schemeClr val="lt1"/>
                </a:highlight>
                <a:latin typeface="Courier New"/>
                <a:ea typeface="Courier New"/>
                <a:cs typeface="Courier New"/>
                <a:sym typeface="Courier New"/>
              </a:rPr>
              <a:t>y_train_cat = to_categorical(y_train_enc)</a:t>
            </a:r>
            <a:endParaRPr sz="950">
              <a:solidFill>
                <a:srgbClr val="0000FF"/>
              </a:solidFill>
              <a:highlight>
                <a:schemeClr val="lt1"/>
              </a:highlight>
              <a:latin typeface="Courier New"/>
              <a:ea typeface="Courier New"/>
              <a:cs typeface="Courier New"/>
              <a:sym typeface="Courier New"/>
            </a:endParaRPr>
          </a:p>
          <a:p>
            <a:pPr indent="0" lvl="0" marL="914400" rtl="0" algn="l">
              <a:lnSpc>
                <a:spcPct val="135714"/>
              </a:lnSpc>
              <a:spcBef>
                <a:spcPts val="0"/>
              </a:spcBef>
              <a:spcAft>
                <a:spcPts val="0"/>
              </a:spcAft>
              <a:buNone/>
            </a:pPr>
            <a:r>
              <a:rPr lang="tr" sz="950">
                <a:solidFill>
                  <a:srgbClr val="0000FF"/>
                </a:solidFill>
                <a:highlight>
                  <a:schemeClr val="lt1"/>
                </a:highlight>
                <a:latin typeface="Courier New"/>
                <a:ea typeface="Courier New"/>
                <a:cs typeface="Courier New"/>
                <a:sym typeface="Courier New"/>
              </a:rPr>
              <a:t>y_val_cat   = to_categorical(y_val_enc)</a:t>
            </a:r>
            <a:endParaRPr sz="95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t/>
            </a:r>
            <a:endParaRPr sz="110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t/>
            </a:r>
            <a:endParaRPr sz="110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t/>
            </a:r>
            <a:endParaRPr sz="110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t/>
            </a:r>
            <a:endParaRPr sz="1100">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t/>
            </a:r>
            <a:endParaRPr sz="1100">
              <a:solidFill>
                <a:srgbClr val="0000FF"/>
              </a:solidFill>
              <a:highlight>
                <a:schemeClr val="lt1"/>
              </a:highlight>
              <a:latin typeface="Courier New"/>
              <a:ea typeface="Courier New"/>
              <a:cs typeface="Courier New"/>
              <a:sym typeface="Courier New"/>
            </a:endParaRPr>
          </a:p>
          <a:p>
            <a:pPr indent="0" lvl="0" marL="457200" rtl="0" algn="l">
              <a:lnSpc>
                <a:spcPct val="160000"/>
              </a:lnSpc>
              <a:spcBef>
                <a:spcPts val="0"/>
              </a:spcBef>
              <a:spcAft>
                <a:spcPts val="0"/>
              </a:spcAft>
              <a:buNone/>
            </a:pPr>
            <a:r>
              <a:t/>
            </a:r>
            <a:endParaRPr sz="1100">
              <a:solidFill>
                <a:srgbClr val="403011"/>
              </a:solidFill>
              <a:latin typeface="Times New Roman"/>
              <a:ea typeface="Times New Roman"/>
              <a:cs typeface="Times New Roman"/>
              <a:sym typeface="Times New Roman"/>
            </a:endParaRPr>
          </a:p>
          <a:p>
            <a:pPr indent="0" lvl="0" marL="0" rtl="0" algn="l">
              <a:spcBef>
                <a:spcPts val="0"/>
              </a:spcBef>
              <a:spcAft>
                <a:spcPts val="1200"/>
              </a:spcAft>
              <a:buNone/>
            </a:pPr>
            <a:r>
              <a:t/>
            </a:r>
            <a:endParaRPr sz="1100">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MODEL EĞİTİMİNDE CALLBACK KULLANIMI</a:t>
            </a:r>
            <a:endParaRPr/>
          </a:p>
        </p:txBody>
      </p:sp>
      <p:sp>
        <p:nvSpPr>
          <p:cNvPr id="119" name="Google Shape;119;p21"/>
          <p:cNvSpPr txBox="1"/>
          <p:nvPr>
            <p:ph idx="1" type="body"/>
          </p:nvPr>
        </p:nvSpPr>
        <p:spPr>
          <a:xfrm>
            <a:off x="49325" y="1093700"/>
            <a:ext cx="89718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sz="1500">
                <a:solidFill>
                  <a:srgbClr val="000000"/>
                </a:solidFill>
                <a:latin typeface="Times New Roman"/>
                <a:ea typeface="Times New Roman"/>
                <a:cs typeface="Times New Roman"/>
                <a:sym typeface="Times New Roman"/>
              </a:rPr>
              <a:t>Tüm modellerin eğitiminde iki adet callback kullanılmıştır. Bunlar:</a:t>
            </a:r>
            <a:endParaRPr sz="1500">
              <a:solidFill>
                <a:srgbClr val="000000"/>
              </a:solidFill>
              <a:latin typeface="Times New Roman"/>
              <a:ea typeface="Times New Roman"/>
              <a:cs typeface="Times New Roman"/>
              <a:sym typeface="Times New Roman"/>
            </a:endParaRPr>
          </a:p>
          <a:p>
            <a:pPr indent="-323850" lvl="0" marL="457200" rtl="0" algn="l">
              <a:spcBef>
                <a:spcPts val="1200"/>
              </a:spcBef>
              <a:spcAft>
                <a:spcPts val="0"/>
              </a:spcAft>
              <a:buClr>
                <a:srgbClr val="000000"/>
              </a:buClr>
              <a:buSzPts val="1500"/>
              <a:buFont typeface="Times New Roman"/>
              <a:buChar char="●"/>
            </a:pPr>
            <a:r>
              <a:rPr lang="tr" sz="1500">
                <a:solidFill>
                  <a:srgbClr val="000000"/>
                </a:solidFill>
                <a:latin typeface="Times New Roman"/>
                <a:ea typeface="Times New Roman"/>
                <a:cs typeface="Times New Roman"/>
                <a:sym typeface="Times New Roman"/>
              </a:rPr>
              <a:t>EarlyStopping</a:t>
            </a:r>
            <a:endParaRPr sz="1500">
              <a:solidFill>
                <a:srgbClr val="000000"/>
              </a:solidFill>
              <a:latin typeface="Times New Roman"/>
              <a:ea typeface="Times New Roman"/>
              <a:cs typeface="Times New Roman"/>
              <a:sym typeface="Times New Roman"/>
            </a:endParaRPr>
          </a:p>
          <a:p>
            <a:pPr indent="-323850" lvl="0" marL="457200" rtl="0" algn="l">
              <a:spcBef>
                <a:spcPts val="0"/>
              </a:spcBef>
              <a:spcAft>
                <a:spcPts val="0"/>
              </a:spcAft>
              <a:buClr>
                <a:srgbClr val="000000"/>
              </a:buClr>
              <a:buSzPts val="1500"/>
              <a:buFont typeface="Times New Roman"/>
              <a:buChar char="●"/>
            </a:pPr>
            <a:r>
              <a:rPr lang="tr" sz="1500">
                <a:solidFill>
                  <a:srgbClr val="000000"/>
                </a:solidFill>
                <a:latin typeface="Times New Roman"/>
                <a:ea typeface="Times New Roman"/>
                <a:cs typeface="Times New Roman"/>
                <a:sym typeface="Times New Roman"/>
              </a:rPr>
              <a:t>ReduceLROnPlateau</a:t>
            </a:r>
            <a:endParaRPr sz="15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tr" sz="1500">
                <a:solidFill>
                  <a:srgbClr val="000000"/>
                </a:solidFill>
                <a:latin typeface="Times New Roman"/>
                <a:ea typeface="Times New Roman"/>
                <a:cs typeface="Times New Roman"/>
                <a:sym typeface="Times New Roman"/>
              </a:rPr>
              <a:t>EarlyStopping, validation kaybı (val_loss) iyileşmeyi durdurduğunda verilen patience değerine göre örneğin 3 epoch boyunca iyileşmediğinde eğitimi durdurarak aşırı öğrenmenin önüne geçmeyi sağlar.</a:t>
            </a:r>
            <a:endParaRPr sz="15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tr" sz="1500">
                <a:solidFill>
                  <a:srgbClr val="000000"/>
                </a:solidFill>
                <a:latin typeface="Times New Roman"/>
                <a:ea typeface="Times New Roman"/>
                <a:cs typeface="Times New Roman"/>
                <a:sym typeface="Times New Roman"/>
              </a:rPr>
              <a:t>ReduceLROnPlateau, iyileşme durduğunda öğrenme oranını (learning rate) düşürerek daha küçük adımlarla öğrenmesini sağlar. Factor değerine göre öğrenme oranı düşer. Patience değerine göre örneğin 2 epoch  boyunca iyileşme yoksa uygulanır.</a:t>
            </a:r>
            <a:endParaRPr sz="15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tr" sz="1500">
                <a:solidFill>
                  <a:srgbClr val="000000"/>
                </a:solidFill>
                <a:latin typeface="Times New Roman"/>
                <a:ea typeface="Times New Roman"/>
                <a:cs typeface="Times New Roman"/>
                <a:sym typeface="Times New Roman"/>
              </a:rPr>
              <a:t>Örnek:</a:t>
            </a:r>
            <a:endParaRPr sz="1500">
              <a:solidFill>
                <a:srgbClr val="000000"/>
              </a:solidFill>
              <a:latin typeface="Times New Roman"/>
              <a:ea typeface="Times New Roman"/>
              <a:cs typeface="Times New Roman"/>
              <a:sym typeface="Times New Roman"/>
            </a:endParaRPr>
          </a:p>
          <a:p>
            <a:pPr indent="0" lvl="0" marL="0" rtl="0" algn="l">
              <a:lnSpc>
                <a:spcPct val="135714"/>
              </a:lnSpc>
              <a:spcBef>
                <a:spcPts val="1200"/>
              </a:spcBef>
              <a:spcAft>
                <a:spcPts val="0"/>
              </a:spcAft>
              <a:buNone/>
            </a:pPr>
            <a:r>
              <a:rPr lang="tr" sz="1300">
                <a:solidFill>
                  <a:srgbClr val="0000FF"/>
                </a:solidFill>
                <a:highlight>
                  <a:schemeClr val="lt1"/>
                </a:highlight>
                <a:latin typeface="Courier New"/>
                <a:ea typeface="Courier New"/>
                <a:cs typeface="Courier New"/>
                <a:sym typeface="Courier New"/>
              </a:rPr>
              <a:t>cb = [</a:t>
            </a:r>
            <a:endParaRPr sz="130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300">
                <a:solidFill>
                  <a:srgbClr val="0000FF"/>
                </a:solidFill>
                <a:highlight>
                  <a:schemeClr val="lt1"/>
                </a:highlight>
                <a:latin typeface="Courier New"/>
                <a:ea typeface="Courier New"/>
                <a:cs typeface="Courier New"/>
                <a:sym typeface="Courier New"/>
              </a:rPr>
              <a:t>    EarlyStopping(monitor="val_loss", patience=3, restore_best_weights=True, verbose=1),</a:t>
            </a:r>
            <a:endParaRPr sz="130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300">
                <a:solidFill>
                  <a:srgbClr val="0000FF"/>
                </a:solidFill>
                <a:highlight>
                  <a:schemeClr val="lt1"/>
                </a:highlight>
                <a:latin typeface="Courier New"/>
                <a:ea typeface="Courier New"/>
                <a:cs typeface="Courier New"/>
                <a:sym typeface="Courier New"/>
              </a:rPr>
              <a:t>    ReduceLROnPlateau(monitor="val_loss", factor=0.5, patience=2, verbose=1)</a:t>
            </a:r>
            <a:endParaRPr sz="130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300">
                <a:solidFill>
                  <a:srgbClr val="0000FF"/>
                </a:solidFill>
                <a:highlight>
                  <a:schemeClr val="lt1"/>
                </a:highlight>
                <a:latin typeface="Courier New"/>
                <a:ea typeface="Courier New"/>
                <a:cs typeface="Courier New"/>
                <a:sym typeface="Courier New"/>
              </a:rPr>
              <a:t>]</a:t>
            </a:r>
            <a:endParaRPr sz="1300">
              <a:solidFill>
                <a:srgbClr val="0000FF"/>
              </a:solidFill>
              <a:highlight>
                <a:schemeClr val="lt1"/>
              </a:highlight>
              <a:latin typeface="Courier New"/>
              <a:ea typeface="Courier New"/>
              <a:cs typeface="Courier New"/>
              <a:sym typeface="Courier New"/>
            </a:endParaRPr>
          </a:p>
          <a:p>
            <a:pPr indent="0" lvl="0" marL="0" rtl="0" algn="l">
              <a:spcBef>
                <a:spcPts val="0"/>
              </a:spcBef>
              <a:spcAft>
                <a:spcPts val="1200"/>
              </a:spcAft>
              <a:buNone/>
            </a:pPr>
            <a:r>
              <a:t/>
            </a:r>
            <a:endParaRPr sz="1300">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206000" y="198400"/>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LSTM MODELİ</a:t>
            </a:r>
            <a:endParaRPr/>
          </a:p>
        </p:txBody>
      </p:sp>
      <p:sp>
        <p:nvSpPr>
          <p:cNvPr id="125" name="Google Shape;125;p22"/>
          <p:cNvSpPr txBox="1"/>
          <p:nvPr>
            <p:ph idx="1" type="body"/>
          </p:nvPr>
        </p:nvSpPr>
        <p:spPr>
          <a:xfrm>
            <a:off x="108025" y="955900"/>
            <a:ext cx="8948400" cy="38403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tr" sz="1700">
                <a:solidFill>
                  <a:srgbClr val="000000"/>
                </a:solidFill>
                <a:latin typeface="Times New Roman"/>
                <a:ea typeface="Times New Roman"/>
                <a:cs typeface="Times New Roman"/>
                <a:sym typeface="Times New Roman"/>
              </a:rPr>
              <a:t>LSTM (Long Short-Term Memory), klasik RNN’lerin (Recurrent Neural Network) hatırlama problemlerini çözmek için geliştirilmiş bir tekrarlayan sinir ağı (RNN) türüdür.</a:t>
            </a:r>
            <a:endParaRPr sz="17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tr" sz="1700">
                <a:solidFill>
                  <a:srgbClr val="000000"/>
                </a:solidFill>
                <a:latin typeface="Times New Roman"/>
                <a:ea typeface="Times New Roman"/>
                <a:cs typeface="Times New Roman"/>
                <a:sym typeface="Times New Roman"/>
              </a:rPr>
              <a:t>LSTM, her hücrede 3 kapı (gate) barındırır:</a:t>
            </a:r>
            <a:endParaRPr sz="1700">
              <a:solidFill>
                <a:srgbClr val="000000"/>
              </a:solidFill>
              <a:latin typeface="Times New Roman"/>
              <a:ea typeface="Times New Roman"/>
              <a:cs typeface="Times New Roman"/>
              <a:sym typeface="Times New Roman"/>
            </a:endParaRPr>
          </a:p>
          <a:p>
            <a:pPr indent="-336550" lvl="0" marL="457200" rtl="0" algn="l">
              <a:spcBef>
                <a:spcPts val="1200"/>
              </a:spcBef>
              <a:spcAft>
                <a:spcPts val="0"/>
              </a:spcAft>
              <a:buClr>
                <a:srgbClr val="000000"/>
              </a:buClr>
              <a:buSzPts val="1700"/>
              <a:buFont typeface="Arial"/>
              <a:buAutoNum type="arabicPeriod"/>
            </a:pPr>
            <a:r>
              <a:rPr b="1" lang="tr" sz="1700">
                <a:solidFill>
                  <a:srgbClr val="000000"/>
                </a:solidFill>
                <a:latin typeface="Times New Roman"/>
                <a:ea typeface="Times New Roman"/>
                <a:cs typeface="Times New Roman"/>
                <a:sym typeface="Times New Roman"/>
              </a:rPr>
              <a:t>Giriş Kapısı (Input Gate):</a:t>
            </a:r>
            <a:r>
              <a:rPr lang="tr" sz="1700">
                <a:solidFill>
                  <a:srgbClr val="000000"/>
                </a:solidFill>
                <a:latin typeface="Times New Roman"/>
                <a:ea typeface="Times New Roman"/>
                <a:cs typeface="Times New Roman"/>
                <a:sym typeface="Times New Roman"/>
              </a:rPr>
              <a:t> Yeni bilgilerin ne kadarının alınacağını belirler.</a:t>
            </a:r>
            <a:endParaRPr sz="1700">
              <a:solidFill>
                <a:srgbClr val="000000"/>
              </a:solidFill>
              <a:latin typeface="Times New Roman"/>
              <a:ea typeface="Times New Roman"/>
              <a:cs typeface="Times New Roman"/>
              <a:sym typeface="Times New Roman"/>
            </a:endParaRPr>
          </a:p>
          <a:p>
            <a:pPr indent="-336550" lvl="0" marL="457200" rtl="0" algn="l">
              <a:spcBef>
                <a:spcPts val="0"/>
              </a:spcBef>
              <a:spcAft>
                <a:spcPts val="0"/>
              </a:spcAft>
              <a:buClr>
                <a:srgbClr val="000000"/>
              </a:buClr>
              <a:buSzPts val="1700"/>
              <a:buFont typeface="Arial"/>
              <a:buAutoNum type="arabicPeriod"/>
            </a:pPr>
            <a:r>
              <a:rPr b="1" lang="tr" sz="1700">
                <a:solidFill>
                  <a:srgbClr val="000000"/>
                </a:solidFill>
                <a:latin typeface="Times New Roman"/>
                <a:ea typeface="Times New Roman"/>
                <a:cs typeface="Times New Roman"/>
                <a:sym typeface="Times New Roman"/>
              </a:rPr>
              <a:t>Unutma Kapısı (Forget Gate):</a:t>
            </a:r>
            <a:r>
              <a:rPr lang="tr" sz="1700">
                <a:solidFill>
                  <a:srgbClr val="000000"/>
                </a:solidFill>
                <a:latin typeface="Times New Roman"/>
                <a:ea typeface="Times New Roman"/>
                <a:cs typeface="Times New Roman"/>
                <a:sym typeface="Times New Roman"/>
              </a:rPr>
              <a:t> Önceki bilgilerin ne kadarının unutulacağını belirler.</a:t>
            </a:r>
            <a:endParaRPr sz="1700">
              <a:solidFill>
                <a:srgbClr val="000000"/>
              </a:solidFill>
              <a:latin typeface="Times New Roman"/>
              <a:ea typeface="Times New Roman"/>
              <a:cs typeface="Times New Roman"/>
              <a:sym typeface="Times New Roman"/>
            </a:endParaRPr>
          </a:p>
          <a:p>
            <a:pPr indent="-336550" lvl="0" marL="457200" rtl="0" algn="l">
              <a:spcBef>
                <a:spcPts val="0"/>
              </a:spcBef>
              <a:spcAft>
                <a:spcPts val="0"/>
              </a:spcAft>
              <a:buClr>
                <a:srgbClr val="000000"/>
              </a:buClr>
              <a:buSzPts val="1700"/>
              <a:buFont typeface="Arial"/>
              <a:buAutoNum type="arabicPeriod"/>
            </a:pPr>
            <a:r>
              <a:rPr b="1" lang="tr" sz="1700">
                <a:solidFill>
                  <a:srgbClr val="000000"/>
                </a:solidFill>
                <a:latin typeface="Times New Roman"/>
                <a:ea typeface="Times New Roman"/>
                <a:cs typeface="Times New Roman"/>
                <a:sym typeface="Times New Roman"/>
              </a:rPr>
              <a:t>Çıkış Kapısı (Output Gate):</a:t>
            </a:r>
            <a:r>
              <a:rPr lang="tr" sz="1700">
                <a:solidFill>
                  <a:srgbClr val="000000"/>
                </a:solidFill>
                <a:latin typeface="Times New Roman"/>
                <a:ea typeface="Times New Roman"/>
                <a:cs typeface="Times New Roman"/>
                <a:sym typeface="Times New Roman"/>
              </a:rPr>
              <a:t> Hücreden dışarı ne çıkacağına karar verir.</a:t>
            </a:r>
            <a:endParaRPr sz="1700">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tr" sz="1700">
                <a:solidFill>
                  <a:srgbClr val="000000"/>
                </a:solidFill>
                <a:latin typeface="Times New Roman"/>
                <a:ea typeface="Times New Roman"/>
                <a:cs typeface="Times New Roman"/>
                <a:sym typeface="Times New Roman"/>
              </a:rPr>
              <a:t>Bu projede, kullanıcı yorumlarının duygusal tonunu doğru anlamak için kullanılan yöntemlerden biri LSTM modelidir. LSTM; </a:t>
            </a:r>
            <a:endParaRPr sz="1700">
              <a:solidFill>
                <a:srgbClr val="000000"/>
              </a:solidFill>
              <a:latin typeface="Times New Roman"/>
              <a:ea typeface="Times New Roman"/>
              <a:cs typeface="Times New Roman"/>
              <a:sym typeface="Times New Roman"/>
            </a:endParaRPr>
          </a:p>
          <a:p>
            <a:pPr indent="-336550" lvl="0" marL="457200" rtl="0" algn="l">
              <a:spcBef>
                <a:spcPts val="1200"/>
              </a:spcBef>
              <a:spcAft>
                <a:spcPts val="0"/>
              </a:spcAft>
              <a:buClr>
                <a:srgbClr val="000000"/>
              </a:buClr>
              <a:buSzPts val="1700"/>
              <a:buFont typeface="Times New Roman"/>
              <a:buChar char="●"/>
            </a:pPr>
            <a:r>
              <a:rPr lang="tr" sz="1700">
                <a:solidFill>
                  <a:srgbClr val="000000"/>
                </a:solidFill>
                <a:latin typeface="Times New Roman"/>
                <a:ea typeface="Times New Roman"/>
                <a:cs typeface="Times New Roman"/>
                <a:sym typeface="Times New Roman"/>
              </a:rPr>
              <a:t>Kelime sırasını dikkate alır,</a:t>
            </a:r>
            <a:endParaRPr sz="1700">
              <a:solidFill>
                <a:srgbClr val="000000"/>
              </a:solidFill>
              <a:latin typeface="Times New Roman"/>
              <a:ea typeface="Times New Roman"/>
              <a:cs typeface="Times New Roman"/>
              <a:sym typeface="Times New Roman"/>
            </a:endParaRPr>
          </a:p>
          <a:p>
            <a:pPr indent="-336550" lvl="0" marL="457200" rtl="0" algn="l">
              <a:spcBef>
                <a:spcPts val="0"/>
              </a:spcBef>
              <a:spcAft>
                <a:spcPts val="0"/>
              </a:spcAft>
              <a:buClr>
                <a:srgbClr val="000000"/>
              </a:buClr>
              <a:buSzPts val="1700"/>
              <a:buFont typeface="Times New Roman"/>
              <a:buChar char="●"/>
            </a:pPr>
            <a:r>
              <a:rPr lang="tr" sz="1700">
                <a:solidFill>
                  <a:srgbClr val="000000"/>
                </a:solidFill>
                <a:latin typeface="Times New Roman"/>
                <a:ea typeface="Times New Roman"/>
                <a:cs typeface="Times New Roman"/>
                <a:sym typeface="Times New Roman"/>
              </a:rPr>
              <a:t>Bağlamı öğrenir,</a:t>
            </a:r>
            <a:endParaRPr sz="1700">
              <a:solidFill>
                <a:srgbClr val="000000"/>
              </a:solidFill>
              <a:latin typeface="Times New Roman"/>
              <a:ea typeface="Times New Roman"/>
              <a:cs typeface="Times New Roman"/>
              <a:sym typeface="Times New Roman"/>
            </a:endParaRPr>
          </a:p>
          <a:p>
            <a:pPr indent="-336550" lvl="0" marL="457200" rtl="0" algn="l">
              <a:spcBef>
                <a:spcPts val="0"/>
              </a:spcBef>
              <a:spcAft>
                <a:spcPts val="0"/>
              </a:spcAft>
              <a:buClr>
                <a:srgbClr val="000000"/>
              </a:buClr>
              <a:buSzPts val="1700"/>
              <a:buFont typeface="Times New Roman"/>
              <a:buChar char="●"/>
            </a:pPr>
            <a:r>
              <a:rPr lang="tr" sz="1700">
                <a:solidFill>
                  <a:srgbClr val="000000"/>
                </a:solidFill>
                <a:latin typeface="Times New Roman"/>
                <a:ea typeface="Times New Roman"/>
                <a:cs typeface="Times New Roman"/>
                <a:sym typeface="Times New Roman"/>
              </a:rPr>
              <a:t> Duygu geçişlerini yakalayabilir.</a:t>
            </a:r>
            <a:endParaRPr sz="1700">
              <a:solidFill>
                <a:schemeClr val="accent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32175" y="13777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LSTM MODEL MİMARİSİ 1</a:t>
            </a:r>
            <a:endParaRPr/>
          </a:p>
        </p:txBody>
      </p:sp>
      <p:sp>
        <p:nvSpPr>
          <p:cNvPr id="131" name="Google Shape;131;p23"/>
          <p:cNvSpPr txBox="1"/>
          <p:nvPr>
            <p:ph idx="1" type="body"/>
          </p:nvPr>
        </p:nvSpPr>
        <p:spPr>
          <a:xfrm>
            <a:off x="86025" y="764450"/>
            <a:ext cx="9012900" cy="2576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tr" sz="1500">
                <a:solidFill>
                  <a:srgbClr val="000000"/>
                </a:solidFill>
                <a:latin typeface="Times New Roman"/>
                <a:ea typeface="Times New Roman"/>
                <a:cs typeface="Times New Roman"/>
                <a:sym typeface="Times New Roman"/>
              </a:rPr>
              <a:t>Bu aşamada yorumların duygu analizini yapmak için bir Sequential (sıralı) model oluşturuldu. Modelin katmanları aşağıdaki gibi yapılandırıldı:</a:t>
            </a:r>
            <a:endParaRPr sz="1500">
              <a:solidFill>
                <a:srgbClr val="000000"/>
              </a:solidFill>
              <a:latin typeface="Times New Roman"/>
              <a:ea typeface="Times New Roman"/>
              <a:cs typeface="Times New Roman"/>
              <a:sym typeface="Times New Roman"/>
            </a:endParaRPr>
          </a:p>
          <a:p>
            <a:pPr indent="-323850" lvl="0" marL="457200" rtl="0" algn="l">
              <a:lnSpc>
                <a:spcPct val="115000"/>
              </a:lnSpc>
              <a:spcBef>
                <a:spcPts val="1200"/>
              </a:spcBef>
              <a:spcAft>
                <a:spcPts val="0"/>
              </a:spcAft>
              <a:buClr>
                <a:srgbClr val="000000"/>
              </a:buClr>
              <a:buSzPts val="1500"/>
              <a:buFont typeface="Times New Roman"/>
              <a:buChar char="●"/>
            </a:pPr>
            <a:r>
              <a:rPr lang="tr" sz="1500">
                <a:solidFill>
                  <a:srgbClr val="000000"/>
                </a:solidFill>
                <a:latin typeface="Times New Roman"/>
                <a:ea typeface="Times New Roman"/>
                <a:cs typeface="Times New Roman"/>
                <a:sym typeface="Times New Roman"/>
              </a:rPr>
              <a:t> Kelimeler sayılara çevrildikten sonra bu katman sayesinde her kelimeye anlamlı bir vektör temsili verildi.</a:t>
            </a:r>
            <a:endParaRPr sz="1500">
              <a:solidFill>
                <a:srgbClr val="000000"/>
              </a:solidFill>
              <a:latin typeface="Times New Roman"/>
              <a:ea typeface="Times New Roman"/>
              <a:cs typeface="Times New Roman"/>
              <a:sym typeface="Times New Roman"/>
            </a:endParaRPr>
          </a:p>
          <a:p>
            <a:pPr indent="0" lvl="0" marL="457200" rtl="0" algn="l">
              <a:lnSpc>
                <a:spcPct val="135714"/>
              </a:lnSpc>
              <a:spcBef>
                <a:spcPts val="1200"/>
              </a:spcBef>
              <a:spcAft>
                <a:spcPts val="0"/>
              </a:spcAft>
              <a:buNone/>
            </a:pPr>
            <a:r>
              <a:rPr lang="tr" sz="1500">
                <a:solidFill>
                  <a:srgbClr val="0000FF"/>
                </a:solidFill>
                <a:highlight>
                  <a:schemeClr val="lt1"/>
                </a:highlight>
                <a:latin typeface="Times New Roman"/>
                <a:ea typeface="Times New Roman"/>
                <a:cs typeface="Times New Roman"/>
                <a:sym typeface="Times New Roman"/>
              </a:rPr>
              <a:t>model = Sequential([</a:t>
            </a:r>
            <a:endParaRPr sz="1500">
              <a:solidFill>
                <a:srgbClr val="0000FF"/>
              </a:solidFill>
              <a:highlight>
                <a:schemeClr val="lt1"/>
              </a:highlight>
              <a:latin typeface="Times New Roman"/>
              <a:ea typeface="Times New Roman"/>
              <a:cs typeface="Times New Roman"/>
              <a:sym typeface="Times New Roman"/>
            </a:endParaRPr>
          </a:p>
          <a:p>
            <a:pPr indent="457200" lvl="0" marL="457200" rtl="0" algn="l">
              <a:lnSpc>
                <a:spcPct val="115000"/>
              </a:lnSpc>
              <a:spcBef>
                <a:spcPts val="0"/>
              </a:spcBef>
              <a:spcAft>
                <a:spcPts val="0"/>
              </a:spcAft>
              <a:buNone/>
            </a:pPr>
            <a:r>
              <a:rPr lang="tr" sz="1500">
                <a:solidFill>
                  <a:srgbClr val="0000FF"/>
                </a:solidFill>
                <a:highlight>
                  <a:schemeClr val="lt1"/>
                </a:highlight>
                <a:latin typeface="Times New Roman"/>
                <a:ea typeface="Times New Roman"/>
                <a:cs typeface="Times New Roman"/>
                <a:sym typeface="Times New Roman"/>
              </a:rPr>
              <a:t>Embedding(input_dim=MAX_VOCAB, output_dim=128, input_length=MAX_LEN, mask_zero=True),</a:t>
            </a:r>
            <a:endParaRPr sz="1500">
              <a:solidFill>
                <a:srgbClr val="000000"/>
              </a:solidFill>
              <a:latin typeface="Times New Roman"/>
              <a:ea typeface="Times New Roman"/>
              <a:cs typeface="Times New Roman"/>
              <a:sym typeface="Times New Roman"/>
            </a:endParaRPr>
          </a:p>
          <a:p>
            <a:pPr indent="-323850" lvl="0" marL="457200" rtl="0" algn="l">
              <a:lnSpc>
                <a:spcPct val="150000"/>
              </a:lnSpc>
              <a:spcBef>
                <a:spcPts val="1200"/>
              </a:spcBef>
              <a:spcAft>
                <a:spcPts val="0"/>
              </a:spcAft>
              <a:buClr>
                <a:srgbClr val="000000"/>
              </a:buClr>
              <a:buSzPts val="1500"/>
              <a:buFont typeface="Times New Roman"/>
              <a:buChar char="●"/>
            </a:pPr>
            <a:r>
              <a:rPr b="1" lang="tr" sz="1500">
                <a:solidFill>
                  <a:srgbClr val="000000"/>
                </a:solidFill>
                <a:latin typeface="Times New Roman"/>
                <a:ea typeface="Times New Roman"/>
                <a:cs typeface="Times New Roman"/>
                <a:sym typeface="Times New Roman"/>
              </a:rPr>
              <a:t>LSTM Katmanı: </a:t>
            </a:r>
            <a:r>
              <a:rPr lang="tr" sz="1500">
                <a:solidFill>
                  <a:srgbClr val="000000"/>
                </a:solidFill>
                <a:latin typeface="Times New Roman"/>
                <a:ea typeface="Times New Roman"/>
                <a:cs typeface="Times New Roman"/>
                <a:sym typeface="Times New Roman"/>
              </a:rPr>
              <a:t>128 hücreli bir tek yönlü LSTM katmanı tanımlandı.</a:t>
            </a:r>
            <a:endParaRPr sz="1500">
              <a:solidFill>
                <a:srgbClr val="000000"/>
              </a:solidFill>
              <a:latin typeface="Times New Roman"/>
              <a:ea typeface="Times New Roman"/>
              <a:cs typeface="Times New Roman"/>
              <a:sym typeface="Times New Roman"/>
            </a:endParaRPr>
          </a:p>
          <a:p>
            <a:pPr indent="457200" lvl="0" marL="457200" rtl="0" algn="l">
              <a:lnSpc>
                <a:spcPct val="150000"/>
              </a:lnSpc>
              <a:spcBef>
                <a:spcPts val="0"/>
              </a:spcBef>
              <a:spcAft>
                <a:spcPts val="0"/>
              </a:spcAft>
              <a:buNone/>
            </a:pPr>
            <a:r>
              <a:rPr lang="tr" sz="1500">
                <a:solidFill>
                  <a:srgbClr val="0000FF"/>
                </a:solidFill>
                <a:highlight>
                  <a:schemeClr val="lt1"/>
                </a:highlight>
                <a:latin typeface="Times New Roman"/>
                <a:ea typeface="Times New Roman"/>
                <a:cs typeface="Times New Roman"/>
                <a:sym typeface="Times New Roman"/>
              </a:rPr>
              <a:t>LSTM(128, dropout=0.5, recurrent_dropout=0.3),</a:t>
            </a:r>
            <a:endParaRPr sz="1500">
              <a:solidFill>
                <a:srgbClr val="000000"/>
              </a:solidFill>
              <a:latin typeface="Times New Roman"/>
              <a:ea typeface="Times New Roman"/>
              <a:cs typeface="Times New Roman"/>
              <a:sym typeface="Times New Roman"/>
            </a:endParaRPr>
          </a:p>
          <a:p>
            <a:pPr indent="-323850" lvl="0" marL="457200" rtl="0" algn="l">
              <a:lnSpc>
                <a:spcPct val="150000"/>
              </a:lnSpc>
              <a:spcBef>
                <a:spcPts val="0"/>
              </a:spcBef>
              <a:spcAft>
                <a:spcPts val="0"/>
              </a:spcAft>
              <a:buClr>
                <a:srgbClr val="000000"/>
              </a:buClr>
              <a:buSzPts val="1500"/>
              <a:buFont typeface="Times New Roman"/>
              <a:buChar char="●"/>
            </a:pPr>
            <a:r>
              <a:rPr b="1" lang="tr" sz="1500">
                <a:solidFill>
                  <a:srgbClr val="000000"/>
                </a:solidFill>
                <a:latin typeface="Times New Roman"/>
                <a:ea typeface="Times New Roman"/>
                <a:cs typeface="Times New Roman"/>
                <a:sym typeface="Times New Roman"/>
              </a:rPr>
              <a:t>Dropout Katmanı:</a:t>
            </a:r>
            <a:r>
              <a:rPr lang="tr" sz="1500">
                <a:solidFill>
                  <a:srgbClr val="000000"/>
                </a:solidFill>
                <a:latin typeface="Times New Roman"/>
                <a:ea typeface="Times New Roman"/>
                <a:cs typeface="Times New Roman"/>
                <a:sym typeface="Times New Roman"/>
              </a:rPr>
              <a:t> Rastgele nöronları devre dışı bırakarak aşırı öğrenmenin önüne geçmeyi amaçlar.</a:t>
            </a:r>
            <a:endParaRPr sz="1500">
              <a:solidFill>
                <a:srgbClr val="000000"/>
              </a:solidFill>
              <a:latin typeface="Times New Roman"/>
              <a:ea typeface="Times New Roman"/>
              <a:cs typeface="Times New Roman"/>
              <a:sym typeface="Times New Roman"/>
            </a:endParaRPr>
          </a:p>
          <a:p>
            <a:pPr indent="0" lvl="0" marL="914400" rtl="0" algn="l">
              <a:lnSpc>
                <a:spcPct val="135714"/>
              </a:lnSpc>
              <a:spcBef>
                <a:spcPts val="0"/>
              </a:spcBef>
              <a:spcAft>
                <a:spcPts val="0"/>
              </a:spcAft>
              <a:buNone/>
            </a:pPr>
            <a:r>
              <a:rPr lang="tr" sz="1500">
                <a:solidFill>
                  <a:srgbClr val="0000FF"/>
                </a:solidFill>
                <a:highlight>
                  <a:schemeClr val="lt1"/>
                </a:highlight>
                <a:latin typeface="Times New Roman"/>
                <a:ea typeface="Times New Roman"/>
                <a:cs typeface="Times New Roman"/>
                <a:sym typeface="Times New Roman"/>
              </a:rPr>
              <a:t>Dropout(0.5),</a:t>
            </a:r>
            <a:endParaRPr sz="1500">
              <a:solidFill>
                <a:srgbClr val="0000FF"/>
              </a:solidFill>
              <a:highlight>
                <a:schemeClr val="lt1"/>
              </a:highlight>
              <a:latin typeface="Times New Roman"/>
              <a:ea typeface="Times New Roman"/>
              <a:cs typeface="Times New Roman"/>
              <a:sym typeface="Times New Roman"/>
            </a:endParaRPr>
          </a:p>
          <a:p>
            <a:pPr indent="0" lvl="0" marL="914400" rtl="0" algn="l">
              <a:lnSpc>
                <a:spcPct val="135714"/>
              </a:lnSpc>
              <a:spcBef>
                <a:spcPts val="0"/>
              </a:spcBef>
              <a:spcAft>
                <a:spcPts val="0"/>
              </a:spcAft>
              <a:buNone/>
            </a:pPr>
            <a:r>
              <a:t/>
            </a:r>
            <a:endParaRPr sz="1500">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LSTM MODEL MİMARİSİ 2</a:t>
            </a:r>
            <a:endParaRPr/>
          </a:p>
        </p:txBody>
      </p:sp>
      <p:sp>
        <p:nvSpPr>
          <p:cNvPr id="137" name="Google Shape;137;p24"/>
          <p:cNvSpPr txBox="1"/>
          <p:nvPr>
            <p:ph idx="1" type="body"/>
          </p:nvPr>
        </p:nvSpPr>
        <p:spPr>
          <a:xfrm>
            <a:off x="143375" y="1152425"/>
            <a:ext cx="8779500" cy="33027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rgbClr val="1E1E1E"/>
              </a:buClr>
              <a:buSzPts val="1400"/>
              <a:buFont typeface="Times New Roman"/>
              <a:buChar char="●"/>
            </a:pPr>
            <a:r>
              <a:rPr b="1" lang="tr" sz="1400">
                <a:solidFill>
                  <a:srgbClr val="1E1E1E"/>
                </a:solidFill>
                <a:latin typeface="Times New Roman"/>
                <a:ea typeface="Times New Roman"/>
                <a:cs typeface="Times New Roman"/>
                <a:sym typeface="Times New Roman"/>
              </a:rPr>
              <a:t>Dense (Tam Bağlantılı) Katman:</a:t>
            </a:r>
            <a:r>
              <a:rPr lang="tr" sz="1400">
                <a:solidFill>
                  <a:srgbClr val="1E1E1E"/>
                </a:solidFill>
                <a:latin typeface="Times New Roman"/>
                <a:ea typeface="Times New Roman"/>
                <a:cs typeface="Times New Roman"/>
                <a:sym typeface="Times New Roman"/>
              </a:rPr>
              <a:t> 64 nöronlu klasik yapay sinir ağı katmanı olarak tanımlandı. Aktivasyon olarak LeakyReLU kullanıldı. Bu, negatif girişlerde bile bir miktar gradyan geçirerek ölü nöron problemini azaltır. BatchNormalization, eğitim sürecini hızlandırır, modelin kararlı öğrenmesini sağlar.</a:t>
            </a:r>
            <a:endParaRPr sz="1400">
              <a:solidFill>
                <a:srgbClr val="1E1E1E"/>
              </a:solidFill>
              <a:latin typeface="Times New Roman"/>
              <a:ea typeface="Times New Roman"/>
              <a:cs typeface="Times New Roman"/>
              <a:sym typeface="Times New Roman"/>
            </a:endParaRPr>
          </a:p>
          <a:p>
            <a:pPr indent="0" lvl="0" marL="914400" rtl="0" algn="l">
              <a:lnSpc>
                <a:spcPct val="135714"/>
              </a:lnSpc>
              <a:spcBef>
                <a:spcPts val="0"/>
              </a:spcBef>
              <a:spcAft>
                <a:spcPts val="0"/>
              </a:spcAft>
              <a:buNone/>
            </a:pPr>
            <a:r>
              <a:rPr lang="tr" sz="1400">
                <a:solidFill>
                  <a:srgbClr val="0000FF"/>
                </a:solidFill>
                <a:highlight>
                  <a:schemeClr val="lt1"/>
                </a:highlight>
                <a:latin typeface="Times New Roman"/>
                <a:ea typeface="Times New Roman"/>
                <a:cs typeface="Times New Roman"/>
                <a:sym typeface="Times New Roman"/>
              </a:rPr>
              <a:t>Dense(64),</a:t>
            </a:r>
            <a:endParaRPr sz="1400">
              <a:solidFill>
                <a:srgbClr val="0000FF"/>
              </a:solidFill>
              <a:highlight>
                <a:schemeClr val="lt1"/>
              </a:highlight>
              <a:latin typeface="Times New Roman"/>
              <a:ea typeface="Times New Roman"/>
              <a:cs typeface="Times New Roman"/>
              <a:sym typeface="Times New Roman"/>
            </a:endParaRPr>
          </a:p>
          <a:p>
            <a:pPr indent="0" lvl="0" marL="914400" rtl="0" algn="l">
              <a:lnSpc>
                <a:spcPct val="135714"/>
              </a:lnSpc>
              <a:spcBef>
                <a:spcPts val="0"/>
              </a:spcBef>
              <a:spcAft>
                <a:spcPts val="0"/>
              </a:spcAft>
              <a:buNone/>
            </a:pPr>
            <a:r>
              <a:rPr lang="tr" sz="1400">
                <a:solidFill>
                  <a:srgbClr val="0000FF"/>
                </a:solidFill>
                <a:highlight>
                  <a:schemeClr val="lt1"/>
                </a:highlight>
                <a:latin typeface="Times New Roman"/>
                <a:ea typeface="Times New Roman"/>
                <a:cs typeface="Times New Roman"/>
                <a:sym typeface="Times New Roman"/>
              </a:rPr>
              <a:t>    LeakyReLU(alpha=0.1),</a:t>
            </a:r>
            <a:endParaRPr sz="1400">
              <a:solidFill>
                <a:srgbClr val="0000FF"/>
              </a:solidFill>
              <a:highlight>
                <a:schemeClr val="lt1"/>
              </a:highlight>
              <a:latin typeface="Times New Roman"/>
              <a:ea typeface="Times New Roman"/>
              <a:cs typeface="Times New Roman"/>
              <a:sym typeface="Times New Roman"/>
            </a:endParaRPr>
          </a:p>
          <a:p>
            <a:pPr indent="0" lvl="0" marL="914400" rtl="0" algn="l">
              <a:lnSpc>
                <a:spcPct val="135714"/>
              </a:lnSpc>
              <a:spcBef>
                <a:spcPts val="0"/>
              </a:spcBef>
              <a:spcAft>
                <a:spcPts val="0"/>
              </a:spcAft>
              <a:buNone/>
            </a:pPr>
            <a:r>
              <a:rPr lang="tr" sz="1400">
                <a:solidFill>
                  <a:srgbClr val="0000FF"/>
                </a:solidFill>
                <a:highlight>
                  <a:schemeClr val="lt1"/>
                </a:highlight>
                <a:latin typeface="Times New Roman"/>
                <a:ea typeface="Times New Roman"/>
                <a:cs typeface="Times New Roman"/>
                <a:sym typeface="Times New Roman"/>
              </a:rPr>
              <a:t>    BatchNormalization(),</a:t>
            </a:r>
            <a:endParaRPr sz="1400">
              <a:solidFill>
                <a:srgbClr val="1E1E1E"/>
              </a:solidFill>
              <a:highlight>
                <a:schemeClr val="lt1"/>
              </a:highlight>
              <a:latin typeface="Times New Roman"/>
              <a:ea typeface="Times New Roman"/>
              <a:cs typeface="Times New Roman"/>
              <a:sym typeface="Times New Roman"/>
            </a:endParaRPr>
          </a:p>
          <a:p>
            <a:pPr indent="-317500" lvl="0" marL="457200" rtl="0" algn="l">
              <a:lnSpc>
                <a:spcPct val="135714"/>
              </a:lnSpc>
              <a:spcBef>
                <a:spcPts val="0"/>
              </a:spcBef>
              <a:spcAft>
                <a:spcPts val="0"/>
              </a:spcAft>
              <a:buClr>
                <a:srgbClr val="1E1E1E"/>
              </a:buClr>
              <a:buSzPts val="1400"/>
              <a:buFont typeface="Times New Roman"/>
              <a:buChar char="●"/>
            </a:pPr>
            <a:r>
              <a:rPr b="1" lang="tr" sz="1400">
                <a:solidFill>
                  <a:srgbClr val="1E1E1E"/>
                </a:solidFill>
                <a:highlight>
                  <a:schemeClr val="lt1"/>
                </a:highlight>
                <a:latin typeface="Times New Roman"/>
                <a:ea typeface="Times New Roman"/>
                <a:cs typeface="Times New Roman"/>
                <a:sym typeface="Times New Roman"/>
              </a:rPr>
              <a:t>Çıkış Katmanı:</a:t>
            </a:r>
            <a:r>
              <a:rPr lang="tr" sz="1400">
                <a:solidFill>
                  <a:srgbClr val="1E1E1E"/>
                </a:solidFill>
                <a:highlight>
                  <a:schemeClr val="lt1"/>
                </a:highlight>
                <a:latin typeface="Times New Roman"/>
                <a:ea typeface="Times New Roman"/>
                <a:cs typeface="Times New Roman"/>
                <a:sym typeface="Times New Roman"/>
              </a:rPr>
              <a:t> </a:t>
            </a:r>
            <a:r>
              <a:rPr lang="tr" sz="1400">
                <a:solidFill>
                  <a:srgbClr val="000000"/>
                </a:solidFill>
                <a:latin typeface="Times New Roman"/>
                <a:ea typeface="Times New Roman"/>
                <a:cs typeface="Times New Roman"/>
                <a:sym typeface="Times New Roman"/>
              </a:rPr>
              <a:t>Sınıflar (negatif, notr, pozitif) için softmax aktivasyonu kullanılarak olasılıksal çıktı elde edilir. En yüksek olasılık hangi sınıfa aitse, o sınıfa ait duygu tahmini yapılır.</a:t>
            </a:r>
            <a:endParaRPr sz="1400">
              <a:solidFill>
                <a:srgbClr val="1E1E1E"/>
              </a:solidFill>
              <a:highlight>
                <a:schemeClr val="lt1"/>
              </a:highlight>
              <a:latin typeface="Times New Roman"/>
              <a:ea typeface="Times New Roman"/>
              <a:cs typeface="Times New Roman"/>
              <a:sym typeface="Times New Roman"/>
            </a:endParaRPr>
          </a:p>
          <a:p>
            <a:pPr indent="457200" lvl="0" marL="457200" rtl="0" algn="l">
              <a:lnSpc>
                <a:spcPct val="135714"/>
              </a:lnSpc>
              <a:spcBef>
                <a:spcPts val="0"/>
              </a:spcBef>
              <a:spcAft>
                <a:spcPts val="0"/>
              </a:spcAft>
              <a:buNone/>
            </a:pPr>
            <a:r>
              <a:rPr lang="tr" sz="1400">
                <a:solidFill>
                  <a:srgbClr val="0000FF"/>
                </a:solidFill>
                <a:highlight>
                  <a:schemeClr val="lt1"/>
                </a:highlight>
                <a:latin typeface="Times New Roman"/>
                <a:ea typeface="Times New Roman"/>
                <a:cs typeface="Times New Roman"/>
                <a:sym typeface="Times New Roman"/>
              </a:rPr>
              <a:t>Dense(len(classes), activation="softmax")</a:t>
            </a:r>
            <a:endParaRPr sz="1400">
              <a:solidFill>
                <a:srgbClr val="0000FF"/>
              </a:solidFill>
              <a:highlight>
                <a:schemeClr val="lt1"/>
              </a:highlight>
              <a:latin typeface="Times New Roman"/>
              <a:ea typeface="Times New Roman"/>
              <a:cs typeface="Times New Roman"/>
              <a:sym typeface="Times New Roman"/>
            </a:endParaRPr>
          </a:p>
          <a:p>
            <a:pPr indent="-317500" lvl="0" marL="457200" rtl="0" algn="l">
              <a:lnSpc>
                <a:spcPct val="135714"/>
              </a:lnSpc>
              <a:spcBef>
                <a:spcPts val="0"/>
              </a:spcBef>
              <a:spcAft>
                <a:spcPts val="0"/>
              </a:spcAft>
              <a:buClr>
                <a:srgbClr val="1E1E1E"/>
              </a:buClr>
              <a:buSzPts val="1400"/>
              <a:buFont typeface="Times New Roman"/>
              <a:buChar char="●"/>
            </a:pPr>
            <a:r>
              <a:rPr b="1" lang="tr" sz="1400">
                <a:solidFill>
                  <a:srgbClr val="1E1E1E"/>
                </a:solidFill>
                <a:highlight>
                  <a:schemeClr val="lt1"/>
                </a:highlight>
                <a:latin typeface="Times New Roman"/>
                <a:ea typeface="Times New Roman"/>
                <a:cs typeface="Times New Roman"/>
                <a:sym typeface="Times New Roman"/>
              </a:rPr>
              <a:t>Model Derleme:</a:t>
            </a:r>
            <a:r>
              <a:rPr lang="tr" sz="1400">
                <a:solidFill>
                  <a:srgbClr val="1E1E1E"/>
                </a:solidFill>
                <a:highlight>
                  <a:schemeClr val="lt1"/>
                </a:highlight>
                <a:latin typeface="Times New Roman"/>
                <a:ea typeface="Times New Roman"/>
                <a:cs typeface="Times New Roman"/>
                <a:sym typeface="Times New Roman"/>
              </a:rPr>
              <a:t> </a:t>
            </a:r>
            <a:r>
              <a:rPr lang="tr" sz="1400">
                <a:solidFill>
                  <a:srgbClr val="000000"/>
                </a:solidFill>
                <a:latin typeface="Times New Roman"/>
                <a:ea typeface="Times New Roman"/>
                <a:cs typeface="Times New Roman"/>
                <a:sym typeface="Times New Roman"/>
              </a:rPr>
              <a:t>Adam optimizer ile daha stabil ve hızlı öğrenme sağlandı. Loss function olarak categorical_crossentropy kullanıldı çünkü hedef değişken one-hot encoded (3 sınıf).</a:t>
            </a:r>
            <a:endParaRPr sz="1400">
              <a:solidFill>
                <a:srgbClr val="000000"/>
              </a:solidFill>
              <a:latin typeface="Times New Roman"/>
              <a:ea typeface="Times New Roman"/>
              <a:cs typeface="Times New Roman"/>
              <a:sym typeface="Times New Roman"/>
            </a:endParaRPr>
          </a:p>
          <a:p>
            <a:pPr indent="0" lvl="0" marL="914400" rtl="0" algn="l">
              <a:lnSpc>
                <a:spcPct val="135714"/>
              </a:lnSpc>
              <a:spcBef>
                <a:spcPts val="0"/>
              </a:spcBef>
              <a:spcAft>
                <a:spcPts val="0"/>
              </a:spcAft>
              <a:buNone/>
            </a:pPr>
            <a:r>
              <a:rPr lang="tr" sz="1400">
                <a:solidFill>
                  <a:srgbClr val="0000FF"/>
                </a:solidFill>
                <a:latin typeface="Times New Roman"/>
                <a:ea typeface="Times New Roman"/>
                <a:cs typeface="Times New Roman"/>
                <a:sym typeface="Times New Roman"/>
              </a:rPr>
              <a:t>opt = Adam(learning_rate=5e-4)</a:t>
            </a:r>
            <a:endParaRPr sz="1400">
              <a:solidFill>
                <a:srgbClr val="0000FF"/>
              </a:solidFill>
              <a:latin typeface="Times New Roman"/>
              <a:ea typeface="Times New Roman"/>
              <a:cs typeface="Times New Roman"/>
              <a:sym typeface="Times New Roman"/>
            </a:endParaRPr>
          </a:p>
          <a:p>
            <a:pPr indent="0" lvl="0" marL="914400" rtl="0" algn="l">
              <a:lnSpc>
                <a:spcPct val="135714"/>
              </a:lnSpc>
              <a:spcBef>
                <a:spcPts val="0"/>
              </a:spcBef>
              <a:spcAft>
                <a:spcPts val="0"/>
              </a:spcAft>
              <a:buNone/>
            </a:pPr>
            <a:r>
              <a:rPr lang="tr" sz="1400">
                <a:solidFill>
                  <a:srgbClr val="0000FF"/>
                </a:solidFill>
                <a:latin typeface="Times New Roman"/>
                <a:ea typeface="Times New Roman"/>
                <a:cs typeface="Times New Roman"/>
                <a:sym typeface="Times New Roman"/>
              </a:rPr>
              <a:t>model.compile(loss="categorical_crossentropy", optimizer=opt, metrics=["accuracy"])</a:t>
            </a:r>
            <a:endParaRPr sz="1400">
              <a:solidFill>
                <a:srgbClr val="000000"/>
              </a:solidFill>
              <a:latin typeface="Times New Roman"/>
              <a:ea typeface="Times New Roman"/>
              <a:cs typeface="Times New Roman"/>
              <a:sym typeface="Times New Roman"/>
            </a:endParaRPr>
          </a:p>
          <a:p>
            <a:pPr indent="0" lvl="0" marL="0" rtl="0" algn="l">
              <a:spcBef>
                <a:spcPts val="0"/>
              </a:spcBef>
              <a:spcAft>
                <a:spcPts val="1200"/>
              </a:spcAft>
              <a:buNone/>
            </a:pPr>
            <a:r>
              <a:t/>
            </a:r>
            <a:endParaRPr sz="1400">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LSTM MODELİ EĞİTİM AŞAMASI</a:t>
            </a:r>
            <a:endParaRPr/>
          </a:p>
        </p:txBody>
      </p:sp>
      <p:sp>
        <p:nvSpPr>
          <p:cNvPr id="143" name="Google Shape;143;p25"/>
          <p:cNvSpPr txBox="1"/>
          <p:nvPr>
            <p:ph idx="1" type="body"/>
          </p:nvPr>
        </p:nvSpPr>
        <p:spPr>
          <a:xfrm>
            <a:off x="311700" y="1152425"/>
            <a:ext cx="8520600" cy="3302700"/>
          </a:xfrm>
          <a:prstGeom prst="rect">
            <a:avLst/>
          </a:prstGeom>
        </p:spPr>
        <p:txBody>
          <a:bodyPr anchorCtr="0" anchor="t" bIns="91425" lIns="91425" spcFirstLastPara="1" rIns="91425" wrap="square" tIns="91425">
            <a:noAutofit/>
          </a:bodyPr>
          <a:lstStyle/>
          <a:p>
            <a:pPr indent="0" lvl="0" marL="0" rtl="0" algn="l">
              <a:lnSpc>
                <a:spcPct val="130000"/>
              </a:lnSpc>
              <a:spcBef>
                <a:spcPts val="0"/>
              </a:spcBef>
              <a:spcAft>
                <a:spcPts val="0"/>
              </a:spcAft>
              <a:buSzPts val="688"/>
              <a:buNone/>
            </a:pPr>
            <a:r>
              <a:rPr lang="tr" sz="1631">
                <a:solidFill>
                  <a:srgbClr val="1E1E1E"/>
                </a:solidFill>
                <a:latin typeface="Times New Roman"/>
                <a:ea typeface="Times New Roman"/>
                <a:cs typeface="Times New Roman"/>
                <a:sym typeface="Times New Roman"/>
              </a:rPr>
              <a:t>LSTM modeli, sayısallaştırılmış ve pad edilmiş eğitim verisiyle eğitildi. Doğrulama verisiyle her epoch sonunda performansı ölçüldü. Eğitim 20 epoch olarak başlatıldı. Doğrulama kaybı 3 epoch boyunca iyileşmezse eğitim erken durduruldu (EarlyStopping). Öğrenme yavaşladığında öğrenme oranı otomatik yarıya indirildi (ReduceLROnPlateau). Model, verileri aynı anda 128’lik gruplar (batch) halinde işleyerek eğitildi.</a:t>
            </a:r>
            <a:endParaRPr sz="1631">
              <a:solidFill>
                <a:srgbClr val="1E1E1E"/>
              </a:solidFill>
              <a:latin typeface="Times New Roman"/>
              <a:ea typeface="Times New Roman"/>
              <a:cs typeface="Times New Roman"/>
              <a:sym typeface="Times New Roman"/>
            </a:endParaRPr>
          </a:p>
          <a:p>
            <a:pPr indent="0" lvl="0" marL="0" rtl="0" algn="l">
              <a:lnSpc>
                <a:spcPct val="85000"/>
              </a:lnSpc>
              <a:spcBef>
                <a:spcPts val="1200"/>
              </a:spcBef>
              <a:spcAft>
                <a:spcPts val="0"/>
              </a:spcAft>
              <a:buSzPts val="688"/>
              <a:buNone/>
            </a:pPr>
            <a:r>
              <a:rPr lang="tr" sz="1345">
                <a:solidFill>
                  <a:srgbClr val="0000FF"/>
                </a:solidFill>
                <a:highlight>
                  <a:schemeClr val="lt1"/>
                </a:highlight>
                <a:latin typeface="Courier New"/>
                <a:ea typeface="Courier New"/>
                <a:cs typeface="Courier New"/>
                <a:sym typeface="Courier New"/>
              </a:rPr>
              <a:t>history = lstm_model.fit(</a:t>
            </a:r>
            <a:endParaRPr sz="1345">
              <a:solidFill>
                <a:srgbClr val="0000FF"/>
              </a:solidFill>
              <a:highlight>
                <a:schemeClr val="lt1"/>
              </a:highlight>
              <a:latin typeface="Courier New"/>
              <a:ea typeface="Courier New"/>
              <a:cs typeface="Courier New"/>
              <a:sym typeface="Courier New"/>
            </a:endParaRPr>
          </a:p>
          <a:p>
            <a:pPr indent="0" lvl="0" marL="0" rtl="0" algn="l">
              <a:lnSpc>
                <a:spcPct val="115714"/>
              </a:lnSpc>
              <a:spcBef>
                <a:spcPts val="1200"/>
              </a:spcBef>
              <a:spcAft>
                <a:spcPts val="0"/>
              </a:spcAft>
              <a:buSzPts val="688"/>
              <a:buNone/>
            </a:pPr>
            <a:r>
              <a:rPr lang="tr" sz="1345">
                <a:solidFill>
                  <a:srgbClr val="0000FF"/>
                </a:solidFill>
                <a:highlight>
                  <a:schemeClr val="lt1"/>
                </a:highlight>
                <a:latin typeface="Courier New"/>
                <a:ea typeface="Courier New"/>
                <a:cs typeface="Courier New"/>
                <a:sym typeface="Courier New"/>
              </a:rPr>
              <a:t>    X_train_pad, y_train_cat,</a:t>
            </a:r>
            <a:endParaRPr sz="1345">
              <a:solidFill>
                <a:srgbClr val="0000FF"/>
              </a:solidFill>
              <a:highlight>
                <a:schemeClr val="lt1"/>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tr" sz="1345">
                <a:solidFill>
                  <a:srgbClr val="0000FF"/>
                </a:solidFill>
                <a:highlight>
                  <a:schemeClr val="lt1"/>
                </a:highlight>
                <a:latin typeface="Courier New"/>
                <a:ea typeface="Courier New"/>
                <a:cs typeface="Courier New"/>
                <a:sym typeface="Courier New"/>
              </a:rPr>
              <a:t>    validation_data=(X_val_pad, y_val_cat),</a:t>
            </a:r>
            <a:endParaRPr sz="1345">
              <a:solidFill>
                <a:srgbClr val="0000FF"/>
              </a:solidFill>
              <a:highlight>
                <a:schemeClr val="lt1"/>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tr" sz="1345">
                <a:solidFill>
                  <a:srgbClr val="0000FF"/>
                </a:solidFill>
                <a:highlight>
                  <a:schemeClr val="lt1"/>
                </a:highlight>
                <a:latin typeface="Courier New"/>
                <a:ea typeface="Courier New"/>
                <a:cs typeface="Courier New"/>
                <a:sym typeface="Courier New"/>
              </a:rPr>
              <a:t>    epochs=20,</a:t>
            </a:r>
            <a:endParaRPr sz="1345">
              <a:solidFill>
                <a:srgbClr val="0000FF"/>
              </a:solidFill>
              <a:highlight>
                <a:schemeClr val="lt1"/>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tr" sz="1345">
                <a:solidFill>
                  <a:srgbClr val="0000FF"/>
                </a:solidFill>
                <a:highlight>
                  <a:schemeClr val="lt1"/>
                </a:highlight>
                <a:latin typeface="Courier New"/>
                <a:ea typeface="Courier New"/>
                <a:cs typeface="Courier New"/>
                <a:sym typeface="Courier New"/>
              </a:rPr>
              <a:t>    batch_size=128,</a:t>
            </a:r>
            <a:endParaRPr sz="1345">
              <a:solidFill>
                <a:srgbClr val="0000FF"/>
              </a:solidFill>
              <a:highlight>
                <a:schemeClr val="lt1"/>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tr" sz="1345">
                <a:solidFill>
                  <a:srgbClr val="0000FF"/>
                </a:solidFill>
                <a:highlight>
                  <a:schemeClr val="lt1"/>
                </a:highlight>
                <a:latin typeface="Courier New"/>
                <a:ea typeface="Courier New"/>
                <a:cs typeface="Courier New"/>
                <a:sym typeface="Courier New"/>
              </a:rPr>
              <a:t>    callbacks=cb,</a:t>
            </a:r>
            <a:endParaRPr sz="1345">
              <a:solidFill>
                <a:srgbClr val="0000FF"/>
              </a:solidFill>
              <a:highlight>
                <a:schemeClr val="lt1"/>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tr" sz="1345">
                <a:solidFill>
                  <a:srgbClr val="0000FF"/>
                </a:solidFill>
                <a:highlight>
                  <a:schemeClr val="lt1"/>
                </a:highlight>
                <a:latin typeface="Courier New"/>
                <a:ea typeface="Courier New"/>
                <a:cs typeface="Courier New"/>
                <a:sym typeface="Courier New"/>
              </a:rPr>
              <a:t>    verbose=1</a:t>
            </a:r>
            <a:endParaRPr sz="1345">
              <a:solidFill>
                <a:srgbClr val="0000FF"/>
              </a:solidFill>
              <a:highlight>
                <a:schemeClr val="lt1"/>
              </a:highlight>
              <a:latin typeface="Courier New"/>
              <a:ea typeface="Courier New"/>
              <a:cs typeface="Courier New"/>
              <a:sym typeface="Courier New"/>
            </a:endParaRPr>
          </a:p>
          <a:p>
            <a:pPr indent="0" lvl="0" marL="0" rtl="0" algn="l">
              <a:lnSpc>
                <a:spcPct val="115714"/>
              </a:lnSpc>
              <a:spcBef>
                <a:spcPts val="0"/>
              </a:spcBef>
              <a:spcAft>
                <a:spcPts val="0"/>
              </a:spcAft>
              <a:buSzPts val="688"/>
              <a:buNone/>
            </a:pPr>
            <a:r>
              <a:rPr lang="tr" sz="1345">
                <a:solidFill>
                  <a:srgbClr val="0000FF"/>
                </a:solidFill>
                <a:highlight>
                  <a:schemeClr val="lt1"/>
                </a:highlight>
                <a:latin typeface="Courier New"/>
                <a:ea typeface="Courier New"/>
                <a:cs typeface="Courier New"/>
                <a:sym typeface="Courier New"/>
              </a:rPr>
              <a:t>)</a:t>
            </a:r>
            <a:endParaRPr sz="1345">
              <a:solidFill>
                <a:srgbClr val="0000FF"/>
              </a:solidFill>
              <a:highlight>
                <a:schemeClr val="lt1"/>
              </a:highlight>
              <a:latin typeface="Courier New"/>
              <a:ea typeface="Courier New"/>
              <a:cs typeface="Courier New"/>
              <a:sym typeface="Courier New"/>
            </a:endParaRPr>
          </a:p>
          <a:p>
            <a:pPr indent="0" lvl="0" marL="0" rtl="0" algn="l">
              <a:lnSpc>
                <a:spcPct val="85000"/>
              </a:lnSpc>
              <a:spcBef>
                <a:spcPts val="0"/>
              </a:spcBef>
              <a:spcAft>
                <a:spcPts val="1200"/>
              </a:spcAft>
              <a:buSzPts val="688"/>
              <a:buNone/>
            </a:pPr>
            <a:r>
              <a:t/>
            </a:r>
            <a:endParaRPr sz="1200">
              <a:solidFill>
                <a:srgbClr val="1E1E1E"/>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type="title"/>
          </p:nvPr>
        </p:nvSpPr>
        <p:spPr>
          <a:xfrm>
            <a:off x="311700" y="2806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 LSTM MODEL PERFORMANSI</a:t>
            </a:r>
            <a:endParaRPr/>
          </a:p>
        </p:txBody>
      </p:sp>
      <p:sp>
        <p:nvSpPr>
          <p:cNvPr id="149" name="Google Shape;149;p26"/>
          <p:cNvSpPr txBox="1"/>
          <p:nvPr>
            <p:ph idx="1" type="body"/>
          </p:nvPr>
        </p:nvSpPr>
        <p:spPr>
          <a:xfrm>
            <a:off x="311700" y="1043200"/>
            <a:ext cx="5409600" cy="37527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018"/>
              <a:buNone/>
            </a:pPr>
            <a:r>
              <a:rPr lang="tr" sz="1787">
                <a:solidFill>
                  <a:srgbClr val="000000"/>
                </a:solidFill>
                <a:latin typeface="Times New Roman"/>
                <a:ea typeface="Times New Roman"/>
                <a:cs typeface="Times New Roman"/>
                <a:sym typeface="Times New Roman"/>
              </a:rPr>
              <a:t>Model eğitildikten sonra test verisi üzerinde değerlendirilmiştir. Aşağıdaki tablo, sınıflara göre başarı metriklerini, modelin test verisi üzerindeki başarısı ve macro f1 skorları göstermektedir:</a:t>
            </a:r>
            <a:endParaRPr sz="1787">
              <a:solidFill>
                <a:srgbClr val="000000"/>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018"/>
              <a:buNone/>
            </a:pPr>
            <a:r>
              <a:rPr lang="tr" sz="2065">
                <a:latin typeface="Times New Roman"/>
                <a:ea typeface="Times New Roman"/>
                <a:cs typeface="Times New Roman"/>
                <a:sym typeface="Times New Roman"/>
              </a:rPr>
              <a:t>	 </a:t>
            </a:r>
            <a:r>
              <a:rPr lang="tr" sz="2065">
                <a:solidFill>
                  <a:srgbClr val="4A86E8"/>
                </a:solidFill>
                <a:latin typeface="Times New Roman"/>
                <a:ea typeface="Times New Roman"/>
                <a:cs typeface="Times New Roman"/>
                <a:sym typeface="Times New Roman"/>
              </a:rPr>
              <a:t>   </a:t>
            </a:r>
            <a:r>
              <a:rPr lang="tr" sz="1371">
                <a:solidFill>
                  <a:srgbClr val="4A86E8"/>
                </a:solidFill>
                <a:latin typeface="Times New Roman"/>
                <a:ea typeface="Times New Roman"/>
                <a:cs typeface="Times New Roman"/>
                <a:sym typeface="Times New Roman"/>
              </a:rPr>
              <a:t>precision     recall     f1-score   support</a:t>
            </a:r>
            <a:endParaRPr sz="1371">
              <a:solidFill>
                <a:srgbClr val="4A86E8"/>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018"/>
              <a:buNone/>
            </a:pPr>
            <a:r>
              <a:rPr lang="tr" sz="1371">
                <a:solidFill>
                  <a:srgbClr val="4A86E8"/>
                </a:solidFill>
                <a:latin typeface="Times New Roman"/>
                <a:ea typeface="Times New Roman"/>
                <a:cs typeface="Times New Roman"/>
                <a:sym typeface="Times New Roman"/>
              </a:rPr>
              <a:t>     negatif       0.77          0.73          0.75        2000</a:t>
            </a:r>
            <a:endParaRPr sz="1371">
              <a:solidFill>
                <a:srgbClr val="4A86E8"/>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018"/>
              <a:buNone/>
            </a:pPr>
            <a:r>
              <a:rPr lang="tr" sz="1371">
                <a:solidFill>
                  <a:srgbClr val="4A86E8"/>
                </a:solidFill>
                <a:latin typeface="Times New Roman"/>
                <a:ea typeface="Times New Roman"/>
                <a:cs typeface="Times New Roman"/>
                <a:sym typeface="Times New Roman"/>
              </a:rPr>
              <a:t>        notr         0.77          0.76          0.76        2000</a:t>
            </a:r>
            <a:endParaRPr sz="1371">
              <a:solidFill>
                <a:srgbClr val="4A86E8"/>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018"/>
              <a:buNone/>
            </a:pPr>
            <a:r>
              <a:rPr lang="tr" sz="1371">
                <a:solidFill>
                  <a:srgbClr val="4A86E8"/>
                </a:solidFill>
                <a:latin typeface="Times New Roman"/>
                <a:ea typeface="Times New Roman"/>
                <a:cs typeface="Times New Roman"/>
                <a:sym typeface="Times New Roman"/>
              </a:rPr>
              <a:t>     pozitif        0.77          0.83          0.80        2000</a:t>
            </a:r>
            <a:endParaRPr sz="1371">
              <a:solidFill>
                <a:srgbClr val="4A86E8"/>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018"/>
              <a:buNone/>
            </a:pPr>
            <a:r>
              <a:rPr lang="tr" sz="1371">
                <a:solidFill>
                  <a:srgbClr val="4A86E8"/>
                </a:solidFill>
                <a:latin typeface="Times New Roman"/>
                <a:ea typeface="Times New Roman"/>
                <a:cs typeface="Times New Roman"/>
                <a:sym typeface="Times New Roman"/>
              </a:rPr>
              <a:t>    accuracy                           	     0.77        6000</a:t>
            </a:r>
            <a:endParaRPr sz="1371">
              <a:solidFill>
                <a:srgbClr val="4A86E8"/>
              </a:solidFill>
              <a:latin typeface="Times New Roman"/>
              <a:ea typeface="Times New Roman"/>
              <a:cs typeface="Times New Roman"/>
              <a:sym typeface="Times New Roman"/>
            </a:endParaRPr>
          </a:p>
          <a:p>
            <a:pPr indent="0" lvl="0" marL="0" rtl="0" algn="l">
              <a:lnSpc>
                <a:spcPct val="95000"/>
              </a:lnSpc>
              <a:spcBef>
                <a:spcPts val="1200"/>
              </a:spcBef>
              <a:spcAft>
                <a:spcPts val="0"/>
              </a:spcAft>
              <a:buSzPts val="1018"/>
              <a:buNone/>
            </a:pPr>
            <a:r>
              <a:rPr lang="tr" sz="1371">
                <a:solidFill>
                  <a:srgbClr val="4A86E8"/>
                </a:solidFill>
                <a:latin typeface="Times New Roman"/>
                <a:ea typeface="Times New Roman"/>
                <a:cs typeface="Times New Roman"/>
                <a:sym typeface="Times New Roman"/>
              </a:rPr>
              <a:t>   macro avg      0.77        0.77          0.77        6000</a:t>
            </a:r>
            <a:endParaRPr sz="1371">
              <a:solidFill>
                <a:srgbClr val="4A86E8"/>
              </a:solidFill>
              <a:latin typeface="Times New Roman"/>
              <a:ea typeface="Times New Roman"/>
              <a:cs typeface="Times New Roman"/>
              <a:sym typeface="Times New Roman"/>
            </a:endParaRPr>
          </a:p>
          <a:p>
            <a:pPr indent="0" lvl="0" marL="0" rtl="0" algn="l">
              <a:lnSpc>
                <a:spcPct val="95000"/>
              </a:lnSpc>
              <a:spcBef>
                <a:spcPts val="1200"/>
              </a:spcBef>
              <a:spcAft>
                <a:spcPts val="1200"/>
              </a:spcAft>
              <a:buSzPts val="1018"/>
              <a:buNone/>
            </a:pPr>
            <a:r>
              <a:rPr lang="tr" sz="1371">
                <a:solidFill>
                  <a:srgbClr val="4A86E8"/>
                </a:solidFill>
                <a:latin typeface="Times New Roman"/>
                <a:ea typeface="Times New Roman"/>
                <a:cs typeface="Times New Roman"/>
                <a:sym typeface="Times New Roman"/>
              </a:rPr>
              <a:t>weighted avg     0.77       0.77          0.77         6000</a:t>
            </a:r>
            <a:endParaRPr sz="1695">
              <a:solidFill>
                <a:srgbClr val="4A86E8"/>
              </a:solidFill>
              <a:latin typeface="Times New Roman"/>
              <a:ea typeface="Times New Roman"/>
              <a:cs typeface="Times New Roman"/>
              <a:sym typeface="Times New Roman"/>
            </a:endParaRPr>
          </a:p>
        </p:txBody>
      </p:sp>
      <p:sp>
        <p:nvSpPr>
          <p:cNvPr id="150" name="Google Shape;150;p26"/>
          <p:cNvSpPr txBox="1"/>
          <p:nvPr/>
        </p:nvSpPr>
        <p:spPr>
          <a:xfrm>
            <a:off x="5286775" y="2294625"/>
            <a:ext cx="3426600" cy="24054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0"/>
              </a:spcBef>
              <a:spcAft>
                <a:spcPts val="0"/>
              </a:spcAft>
              <a:buClr>
                <a:srgbClr val="000000"/>
              </a:buClr>
              <a:buSzPts val="1018"/>
              <a:buFont typeface="Arial"/>
              <a:buNone/>
            </a:pPr>
            <a:r>
              <a:rPr lang="tr" sz="1617">
                <a:solidFill>
                  <a:srgbClr val="CC4125"/>
                </a:solidFill>
                <a:latin typeface="Times New Roman"/>
                <a:ea typeface="Times New Roman"/>
                <a:cs typeface="Times New Roman"/>
                <a:sym typeface="Times New Roman"/>
              </a:rPr>
              <a:t>Pozitif sınıf için en iyi sonuç F1-Score = 0.80 ile elde edilmiştir.</a:t>
            </a:r>
            <a:endParaRPr sz="1617">
              <a:solidFill>
                <a:srgbClr val="CC4125"/>
              </a:solidFill>
              <a:latin typeface="Times New Roman"/>
              <a:ea typeface="Times New Roman"/>
              <a:cs typeface="Times New Roman"/>
              <a:sym typeface="Times New Roman"/>
            </a:endParaRPr>
          </a:p>
          <a:p>
            <a:pPr indent="0" lvl="0" marL="0" rtl="0" algn="l">
              <a:lnSpc>
                <a:spcPct val="95000"/>
              </a:lnSpc>
              <a:spcBef>
                <a:spcPts val="1200"/>
              </a:spcBef>
              <a:spcAft>
                <a:spcPts val="0"/>
              </a:spcAft>
              <a:buClr>
                <a:srgbClr val="000000"/>
              </a:buClr>
              <a:buSzPts val="1018"/>
              <a:buFont typeface="Arial"/>
              <a:buNone/>
            </a:pPr>
            <a:r>
              <a:rPr lang="tr" sz="1617">
                <a:solidFill>
                  <a:srgbClr val="CC4125"/>
                </a:solidFill>
                <a:latin typeface="Times New Roman"/>
                <a:ea typeface="Times New Roman"/>
                <a:cs typeface="Times New Roman"/>
                <a:sym typeface="Times New Roman"/>
              </a:rPr>
              <a:t>Negatif ve Nötr sınıflarda ise F1-skoru 0.75 civarındadır.</a:t>
            </a:r>
            <a:endParaRPr sz="1817">
              <a:solidFill>
                <a:srgbClr val="CC4125"/>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tr" sz="1600">
                <a:solidFill>
                  <a:srgbClr val="CC4125"/>
                </a:solidFill>
                <a:latin typeface="Times New Roman"/>
                <a:ea typeface="Times New Roman"/>
                <a:cs typeface="Times New Roman"/>
                <a:sym typeface="Times New Roman"/>
              </a:rPr>
              <a:t>Genel Başarı</a:t>
            </a:r>
            <a:endParaRPr sz="1600">
              <a:solidFill>
                <a:srgbClr val="CC4125"/>
              </a:solidFill>
              <a:latin typeface="Times New Roman"/>
              <a:ea typeface="Times New Roman"/>
              <a:cs typeface="Times New Roman"/>
              <a:sym typeface="Times New Roman"/>
            </a:endParaRPr>
          </a:p>
          <a:p>
            <a:pPr indent="-330200" lvl="0" marL="457200" rtl="0" algn="l">
              <a:lnSpc>
                <a:spcPct val="115000"/>
              </a:lnSpc>
              <a:spcBef>
                <a:spcPts val="1200"/>
              </a:spcBef>
              <a:spcAft>
                <a:spcPts val="0"/>
              </a:spcAft>
              <a:buClr>
                <a:srgbClr val="CC4125"/>
              </a:buClr>
              <a:buSzPts val="1600"/>
              <a:buFont typeface="Times New Roman"/>
              <a:buChar char="●"/>
            </a:pPr>
            <a:r>
              <a:rPr lang="tr" sz="1600">
                <a:solidFill>
                  <a:srgbClr val="CC4125"/>
                </a:solidFill>
                <a:latin typeface="Times New Roman"/>
                <a:ea typeface="Times New Roman"/>
                <a:cs typeface="Times New Roman"/>
                <a:sym typeface="Times New Roman"/>
              </a:rPr>
              <a:t>Accuracy (Doğruluk): %77</a:t>
            </a:r>
            <a:endParaRPr sz="1600">
              <a:solidFill>
                <a:srgbClr val="CC4125"/>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rgbClr val="CC4125"/>
              </a:buClr>
              <a:buSzPts val="1600"/>
              <a:buFont typeface="Times New Roman"/>
              <a:buChar char="●"/>
            </a:pPr>
            <a:r>
              <a:rPr lang="tr" sz="1600">
                <a:solidFill>
                  <a:srgbClr val="CC4125"/>
                </a:solidFill>
                <a:latin typeface="Times New Roman"/>
                <a:ea typeface="Times New Roman"/>
                <a:cs typeface="Times New Roman"/>
                <a:sym typeface="Times New Roman"/>
              </a:rPr>
              <a:t>Macro F1-Score: %76.8</a:t>
            </a:r>
            <a:endParaRPr sz="2000">
              <a:solidFill>
                <a:srgbClr val="CC4125"/>
              </a:solidFill>
              <a:latin typeface="Open Sans"/>
              <a:ea typeface="Open Sans"/>
              <a:cs typeface="Open Sans"/>
              <a:sym typeface="Open Sans"/>
            </a:endParaRPr>
          </a:p>
        </p:txBody>
      </p:sp>
      <p:sp>
        <p:nvSpPr>
          <p:cNvPr id="151" name="Google Shape;151;p26"/>
          <p:cNvSpPr/>
          <p:nvPr/>
        </p:nvSpPr>
        <p:spPr>
          <a:xfrm>
            <a:off x="4260800" y="3215475"/>
            <a:ext cx="810300" cy="563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highlight>
                <a:srgbClr val="FF0000"/>
              </a:highlight>
              <a:latin typeface="Open Sans"/>
              <a:ea typeface="Open Sans"/>
              <a:cs typeface="Open Sans"/>
              <a:sym typeface="Open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THREE-LAYER (STACKED) LSTM MODELİ</a:t>
            </a:r>
            <a:endParaRPr/>
          </a:p>
        </p:txBody>
      </p:sp>
      <p:sp>
        <p:nvSpPr>
          <p:cNvPr id="157" name="Google Shape;157;p2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tr" sz="1600">
                <a:solidFill>
                  <a:srgbClr val="000000"/>
                </a:solidFill>
                <a:latin typeface="Arial"/>
                <a:ea typeface="Arial"/>
                <a:cs typeface="Arial"/>
                <a:sym typeface="Arial"/>
              </a:rPr>
              <a:t>Tree Layer LSTM, klasik tek katmanlı LSTM yerine üç katmanlı bir yapıda ardışık olarak bağlanan LSTM katmanları içerir. Bu sayede:</a:t>
            </a:r>
            <a:endParaRPr sz="1600">
              <a:solidFill>
                <a:srgbClr val="000000"/>
              </a:solidFill>
              <a:latin typeface="Arial"/>
              <a:ea typeface="Arial"/>
              <a:cs typeface="Arial"/>
              <a:sym typeface="Arial"/>
            </a:endParaRPr>
          </a:p>
          <a:p>
            <a:pPr indent="-330200" lvl="0" marL="457200" rtl="0" algn="l">
              <a:spcBef>
                <a:spcPts val="1200"/>
              </a:spcBef>
              <a:spcAft>
                <a:spcPts val="0"/>
              </a:spcAft>
              <a:buClr>
                <a:srgbClr val="000000"/>
              </a:buClr>
              <a:buSzPts val="1600"/>
              <a:buFont typeface="Arial"/>
              <a:buChar char="●"/>
            </a:pPr>
            <a:r>
              <a:rPr lang="tr" sz="1600">
                <a:solidFill>
                  <a:srgbClr val="000000"/>
                </a:solidFill>
                <a:latin typeface="Arial"/>
                <a:ea typeface="Arial"/>
                <a:cs typeface="Arial"/>
                <a:sym typeface="Arial"/>
              </a:rPr>
              <a:t>Model, daha derin ve karmaşık yapıları öğrenebilir.</a:t>
            </a:r>
            <a:br>
              <a:rPr lang="tr" sz="1600">
                <a:solidFill>
                  <a:srgbClr val="000000"/>
                </a:solidFill>
                <a:latin typeface="Arial"/>
                <a:ea typeface="Arial"/>
                <a:cs typeface="Arial"/>
                <a:sym typeface="Arial"/>
              </a:rPr>
            </a:b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tr" sz="1600">
                <a:solidFill>
                  <a:srgbClr val="000000"/>
                </a:solidFill>
                <a:latin typeface="Arial"/>
                <a:ea typeface="Arial"/>
                <a:cs typeface="Arial"/>
                <a:sym typeface="Arial"/>
              </a:rPr>
              <a:t>Zaman bağımlılıklarını daha uzun vadede yakalayabilir.</a:t>
            </a:r>
            <a:br>
              <a:rPr lang="tr" sz="1600">
                <a:solidFill>
                  <a:srgbClr val="000000"/>
                </a:solidFill>
                <a:latin typeface="Arial"/>
                <a:ea typeface="Arial"/>
                <a:cs typeface="Arial"/>
                <a:sym typeface="Arial"/>
              </a:rPr>
            </a:br>
            <a:endParaRPr sz="1600">
              <a:solidFill>
                <a:srgbClr val="000000"/>
              </a:solidFill>
              <a:latin typeface="Arial"/>
              <a:ea typeface="Arial"/>
              <a:cs typeface="Arial"/>
              <a:sym typeface="Arial"/>
            </a:endParaRPr>
          </a:p>
          <a:p>
            <a:pPr indent="-330200" lvl="0" marL="457200" rtl="0" algn="l">
              <a:spcBef>
                <a:spcPts val="0"/>
              </a:spcBef>
              <a:spcAft>
                <a:spcPts val="0"/>
              </a:spcAft>
              <a:buClr>
                <a:srgbClr val="000000"/>
              </a:buClr>
              <a:buSzPts val="1600"/>
              <a:buFont typeface="Arial"/>
              <a:buChar char="●"/>
            </a:pPr>
            <a:r>
              <a:rPr lang="tr" sz="1600">
                <a:solidFill>
                  <a:srgbClr val="000000"/>
                </a:solidFill>
                <a:latin typeface="Arial"/>
                <a:ea typeface="Arial"/>
                <a:cs typeface="Arial"/>
                <a:sym typeface="Arial"/>
              </a:rPr>
              <a:t>Duygu analizi gibi dilde bağlama dayalı görevlerde daha başarılı olur.</a:t>
            </a:r>
            <a:endParaRPr sz="16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THREE-LAYER </a:t>
            </a:r>
            <a:r>
              <a:rPr lang="tr"/>
              <a:t>LSTM MODEL MİMARİSİ </a:t>
            </a:r>
            <a:endParaRPr/>
          </a:p>
        </p:txBody>
      </p:sp>
      <p:sp>
        <p:nvSpPr>
          <p:cNvPr id="163" name="Google Shape;163;p28"/>
          <p:cNvSpPr txBox="1"/>
          <p:nvPr>
            <p:ph idx="1" type="body"/>
          </p:nvPr>
        </p:nvSpPr>
        <p:spPr>
          <a:xfrm>
            <a:off x="53250" y="1030775"/>
            <a:ext cx="9090900" cy="37563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tr" sz="1400">
                <a:solidFill>
                  <a:srgbClr val="000000"/>
                </a:solidFill>
                <a:latin typeface="Times New Roman"/>
                <a:ea typeface="Times New Roman"/>
                <a:cs typeface="Times New Roman"/>
                <a:sym typeface="Times New Roman"/>
              </a:rPr>
              <a:t>Bu model 3 katmanlı (three-layer) bir LSTM mimarisi kullanıyor. Model mimarisi şu şekildedir:</a:t>
            </a:r>
            <a:endParaRPr sz="1400">
              <a:solidFill>
                <a:srgbClr val="000000"/>
              </a:solidFill>
              <a:latin typeface="Times New Roman"/>
              <a:ea typeface="Times New Roman"/>
              <a:cs typeface="Times New Roman"/>
              <a:sym typeface="Times New Roman"/>
            </a:endParaRPr>
          </a:p>
          <a:p>
            <a:pPr indent="-317500" lvl="0" marL="457200" rtl="0" algn="l">
              <a:lnSpc>
                <a:spcPct val="95000"/>
              </a:lnSpc>
              <a:spcBef>
                <a:spcPts val="1400"/>
              </a:spcBef>
              <a:spcAft>
                <a:spcPts val="0"/>
              </a:spcAft>
              <a:buClr>
                <a:srgbClr val="000000"/>
              </a:buClr>
              <a:buSzPts val="1400"/>
              <a:buFont typeface="Times New Roman"/>
              <a:buChar char="●"/>
            </a:pPr>
            <a:r>
              <a:rPr b="1" lang="tr" sz="1400">
                <a:solidFill>
                  <a:srgbClr val="000000"/>
                </a:solidFill>
                <a:latin typeface="Times New Roman"/>
                <a:ea typeface="Times New Roman"/>
                <a:cs typeface="Times New Roman"/>
                <a:sym typeface="Times New Roman"/>
              </a:rPr>
              <a:t>Girdi ve Gömme (Embedding) Bloğu: </a:t>
            </a:r>
            <a:r>
              <a:rPr lang="tr" sz="1400">
                <a:solidFill>
                  <a:srgbClr val="000000"/>
                </a:solidFill>
                <a:latin typeface="Times New Roman"/>
                <a:ea typeface="Times New Roman"/>
                <a:cs typeface="Times New Roman"/>
                <a:sym typeface="Times New Roman"/>
              </a:rPr>
              <a:t>Embedding, Kelimeleri 128 boyutlu vektörlere dönüştürüyor. SpatialDropout1D, Embedding çıktısındaki bazı kelime vektörlerini rastgele sıfırlıyor, aşırı öğrenmeyi (overfitting) azaltıyor.</a:t>
            </a:r>
            <a:endParaRPr sz="1400">
              <a:solidFill>
                <a:srgbClr val="000000"/>
              </a:solidFill>
              <a:latin typeface="Times New Roman"/>
              <a:ea typeface="Times New Roman"/>
              <a:cs typeface="Times New Roman"/>
              <a:sym typeface="Times New Roman"/>
            </a:endParaRPr>
          </a:p>
          <a:p>
            <a:pPr indent="457200" lvl="0" marL="457200" rtl="0" algn="l">
              <a:lnSpc>
                <a:spcPct val="95000"/>
              </a:lnSpc>
              <a:spcBef>
                <a:spcPts val="400"/>
              </a:spcBef>
              <a:spcAft>
                <a:spcPts val="0"/>
              </a:spcAft>
              <a:buNone/>
            </a:pPr>
            <a:r>
              <a:rPr lang="tr" sz="1400">
                <a:solidFill>
                  <a:srgbClr val="0000FF"/>
                </a:solidFill>
                <a:latin typeface="Times New Roman"/>
                <a:ea typeface="Times New Roman"/>
                <a:cs typeface="Times New Roman"/>
                <a:sym typeface="Times New Roman"/>
              </a:rPr>
              <a:t>layers.Embedding(MAX_VOCAB, 128, input_length=MAX_LEN, mask_zero=True),</a:t>
            </a:r>
            <a:endParaRPr sz="1400">
              <a:solidFill>
                <a:srgbClr val="0000FF"/>
              </a:solidFill>
              <a:latin typeface="Times New Roman"/>
              <a:ea typeface="Times New Roman"/>
              <a:cs typeface="Times New Roman"/>
              <a:sym typeface="Times New Roman"/>
            </a:endParaRPr>
          </a:p>
          <a:p>
            <a:pPr indent="0" lvl="0" marL="914400" rtl="0" algn="l">
              <a:lnSpc>
                <a:spcPct val="95000"/>
              </a:lnSpc>
              <a:spcBef>
                <a:spcPts val="1200"/>
              </a:spcBef>
              <a:spcAft>
                <a:spcPts val="0"/>
              </a:spcAft>
              <a:buNone/>
            </a:pPr>
            <a:r>
              <a:rPr lang="tr" sz="1400">
                <a:solidFill>
                  <a:srgbClr val="0000FF"/>
                </a:solidFill>
                <a:latin typeface="Times New Roman"/>
                <a:ea typeface="Times New Roman"/>
                <a:cs typeface="Times New Roman"/>
                <a:sym typeface="Times New Roman"/>
              </a:rPr>
              <a:t>layers.SpatialDropout1D(0.3),</a:t>
            </a:r>
            <a:endParaRPr sz="1400">
              <a:solidFill>
                <a:srgbClr val="0000FF"/>
              </a:solidFill>
              <a:latin typeface="Times New Roman"/>
              <a:ea typeface="Times New Roman"/>
              <a:cs typeface="Times New Roman"/>
              <a:sym typeface="Times New Roman"/>
            </a:endParaRPr>
          </a:p>
          <a:p>
            <a:pPr indent="-304800" lvl="0" marL="457200" rtl="0" algn="l">
              <a:lnSpc>
                <a:spcPct val="95000"/>
              </a:lnSpc>
              <a:spcBef>
                <a:spcPts val="1200"/>
              </a:spcBef>
              <a:spcAft>
                <a:spcPts val="0"/>
              </a:spcAft>
              <a:buClr>
                <a:srgbClr val="000000"/>
              </a:buClr>
              <a:buSzPts val="1200"/>
              <a:buChar char="●"/>
            </a:pPr>
            <a:r>
              <a:rPr b="1" lang="tr" sz="1400">
                <a:solidFill>
                  <a:srgbClr val="000000"/>
                </a:solidFill>
                <a:latin typeface="Times New Roman"/>
                <a:ea typeface="Times New Roman"/>
                <a:cs typeface="Times New Roman"/>
                <a:sym typeface="Times New Roman"/>
              </a:rPr>
              <a:t>Üç Katmanlı LSTM Blokları:</a:t>
            </a:r>
            <a:r>
              <a:rPr lang="tr" sz="1400">
                <a:solidFill>
                  <a:srgbClr val="000000"/>
                </a:solidFill>
                <a:latin typeface="Times New Roman"/>
                <a:ea typeface="Times New Roman"/>
                <a:cs typeface="Times New Roman"/>
                <a:sym typeface="Times New Roman"/>
              </a:rPr>
              <a:t> İlk katman, </a:t>
            </a:r>
            <a:r>
              <a:rPr lang="tr" sz="1300">
                <a:solidFill>
                  <a:srgbClr val="000000"/>
                </a:solidFill>
                <a:latin typeface="Times New Roman"/>
                <a:ea typeface="Times New Roman"/>
                <a:cs typeface="Times New Roman"/>
                <a:sym typeface="Times New Roman"/>
              </a:rPr>
              <a:t>metin dizilerini alıyor ve her kelime için bir çıktı veriyor (</a:t>
            </a:r>
            <a:r>
              <a:rPr lang="tr" sz="1300">
                <a:solidFill>
                  <a:srgbClr val="188038"/>
                </a:solidFill>
                <a:latin typeface="Times New Roman"/>
                <a:ea typeface="Times New Roman"/>
                <a:cs typeface="Times New Roman"/>
                <a:sym typeface="Times New Roman"/>
              </a:rPr>
              <a:t>return_sequences=True</a:t>
            </a:r>
            <a:r>
              <a:rPr lang="tr" sz="1300">
                <a:solidFill>
                  <a:srgbClr val="000000"/>
                </a:solidFill>
                <a:latin typeface="Times New Roman"/>
                <a:ea typeface="Times New Roman"/>
                <a:cs typeface="Times New Roman"/>
                <a:sym typeface="Times New Roman"/>
              </a:rPr>
              <a:t>) .</a:t>
            </a:r>
            <a:r>
              <a:rPr lang="tr" sz="1400">
                <a:solidFill>
                  <a:srgbClr val="000000"/>
                </a:solidFill>
                <a:latin typeface="Times New Roman"/>
                <a:ea typeface="Times New Roman"/>
                <a:cs typeface="Times New Roman"/>
                <a:sym typeface="Times New Roman"/>
              </a:rPr>
              <a:t>128 "bellek hücresi" ile çalışıyor; cümledeki uzun vadeli ilişkileri yakalamaya çalışıyor. İkinci katman, önceki LSTM’den gelen zaman serisini yeniden işliyor. 64 bellek hücresiyle bir önceki bilgiyi daha özgün ve sıkıştırılmış hale getiriyor.</a:t>
            </a:r>
            <a:r>
              <a:rPr lang="tr" sz="1300">
                <a:solidFill>
                  <a:srgbClr val="000000"/>
                </a:solidFill>
                <a:latin typeface="Times New Roman"/>
                <a:ea typeface="Times New Roman"/>
                <a:cs typeface="Times New Roman"/>
                <a:sym typeface="Times New Roman"/>
              </a:rPr>
              <a:t>Yine tüm zaman adımlarını ile</a:t>
            </a:r>
            <a:r>
              <a:rPr lang="tr" sz="1300">
                <a:solidFill>
                  <a:srgbClr val="000000"/>
                </a:solidFill>
                <a:latin typeface="Times New Roman"/>
                <a:ea typeface="Times New Roman"/>
                <a:cs typeface="Times New Roman"/>
                <a:sym typeface="Times New Roman"/>
              </a:rPr>
              <a:t>tiliyor</a:t>
            </a:r>
            <a:r>
              <a:rPr lang="tr" sz="1300">
                <a:solidFill>
                  <a:srgbClr val="000000"/>
                </a:solidFill>
                <a:latin typeface="Times New Roman"/>
                <a:ea typeface="Times New Roman"/>
                <a:cs typeface="Times New Roman"/>
                <a:sym typeface="Times New Roman"/>
              </a:rPr>
              <a:t> (</a:t>
            </a:r>
            <a:r>
              <a:rPr lang="tr" sz="1300">
                <a:solidFill>
                  <a:srgbClr val="188038"/>
                </a:solidFill>
                <a:latin typeface="Times New Roman"/>
                <a:ea typeface="Times New Roman"/>
                <a:cs typeface="Times New Roman"/>
                <a:sym typeface="Times New Roman"/>
              </a:rPr>
              <a:t>return_sequences=True)</a:t>
            </a:r>
            <a:r>
              <a:rPr lang="tr" sz="1300">
                <a:solidFill>
                  <a:srgbClr val="000000"/>
                </a:solidFill>
                <a:latin typeface="Times New Roman"/>
                <a:ea typeface="Times New Roman"/>
                <a:cs typeface="Times New Roman"/>
                <a:sym typeface="Times New Roman"/>
              </a:rPr>
              <a:t>.</a:t>
            </a:r>
            <a:r>
              <a:rPr lang="tr" sz="1400">
                <a:solidFill>
                  <a:srgbClr val="000000"/>
                </a:solidFill>
                <a:latin typeface="Times New Roman"/>
                <a:ea typeface="Times New Roman"/>
                <a:cs typeface="Times New Roman"/>
                <a:sym typeface="Times New Roman"/>
              </a:rPr>
              <a:t> Son katman, artık yalnızca son çıktıyı  alıyor </a:t>
            </a:r>
            <a:r>
              <a:rPr lang="tr" sz="1300">
                <a:solidFill>
                  <a:srgbClr val="000000"/>
                </a:solidFill>
                <a:latin typeface="Times New Roman"/>
                <a:ea typeface="Times New Roman"/>
                <a:cs typeface="Times New Roman"/>
                <a:sym typeface="Times New Roman"/>
              </a:rPr>
              <a:t>(</a:t>
            </a:r>
            <a:r>
              <a:rPr lang="tr" sz="1300">
                <a:solidFill>
                  <a:srgbClr val="188038"/>
                </a:solidFill>
                <a:latin typeface="Times New Roman"/>
                <a:ea typeface="Times New Roman"/>
                <a:cs typeface="Times New Roman"/>
                <a:sym typeface="Times New Roman"/>
              </a:rPr>
              <a:t>return_sequences=False</a:t>
            </a:r>
            <a:r>
              <a:rPr lang="tr" sz="1300">
                <a:solidFill>
                  <a:srgbClr val="000000"/>
                </a:solidFill>
                <a:latin typeface="Times New Roman"/>
                <a:ea typeface="Times New Roman"/>
                <a:cs typeface="Times New Roman"/>
                <a:sym typeface="Times New Roman"/>
              </a:rPr>
              <a:t> varsayılan)</a:t>
            </a:r>
            <a:r>
              <a:rPr lang="tr" sz="1400">
                <a:solidFill>
                  <a:srgbClr val="000000"/>
                </a:solidFill>
                <a:latin typeface="Times New Roman"/>
                <a:ea typeface="Times New Roman"/>
                <a:cs typeface="Times New Roman"/>
                <a:sym typeface="Times New Roman"/>
              </a:rPr>
              <a:t>. Yani bu katman, bütün cümleyi temsil eden bir özet vektör çıkarıyor. Bu özet, sınıflandırma katmanına aktarılıyor.</a:t>
            </a:r>
            <a:endParaRPr sz="1400">
              <a:solidFill>
                <a:srgbClr val="000000"/>
              </a:solidFill>
              <a:latin typeface="Times New Roman"/>
              <a:ea typeface="Times New Roman"/>
              <a:cs typeface="Times New Roman"/>
              <a:sym typeface="Times New Roman"/>
            </a:endParaRPr>
          </a:p>
          <a:p>
            <a:pPr indent="0" lvl="0" marL="914400" rtl="0" algn="l">
              <a:lnSpc>
                <a:spcPct val="115714"/>
              </a:lnSpc>
              <a:spcBef>
                <a:spcPts val="1200"/>
              </a:spcBef>
              <a:spcAft>
                <a:spcPts val="0"/>
              </a:spcAft>
              <a:buNone/>
            </a:pPr>
            <a:r>
              <a:rPr lang="tr" sz="1400">
                <a:solidFill>
                  <a:srgbClr val="0000FF"/>
                </a:solidFill>
                <a:highlight>
                  <a:schemeClr val="lt1"/>
                </a:highlight>
                <a:latin typeface="Times New Roman"/>
                <a:ea typeface="Times New Roman"/>
                <a:cs typeface="Times New Roman"/>
                <a:sym typeface="Times New Roman"/>
              </a:rPr>
              <a:t>layers.LSTM(128, return_sequences=True, dropout=0.3, recurrent_dropout=0.3),</a:t>
            </a:r>
            <a:endParaRPr sz="1400">
              <a:solidFill>
                <a:srgbClr val="0000FF"/>
              </a:solidFill>
              <a:highlight>
                <a:schemeClr val="lt1"/>
              </a:highlight>
              <a:latin typeface="Times New Roman"/>
              <a:ea typeface="Times New Roman"/>
              <a:cs typeface="Times New Roman"/>
              <a:sym typeface="Times New Roman"/>
            </a:endParaRPr>
          </a:p>
          <a:p>
            <a:pPr indent="0" lvl="0" marL="914400" rtl="0" algn="l">
              <a:lnSpc>
                <a:spcPct val="115714"/>
              </a:lnSpc>
              <a:spcBef>
                <a:spcPts val="0"/>
              </a:spcBef>
              <a:spcAft>
                <a:spcPts val="0"/>
              </a:spcAft>
              <a:buNone/>
            </a:pPr>
            <a:r>
              <a:rPr lang="tr" sz="1400">
                <a:solidFill>
                  <a:srgbClr val="0000FF"/>
                </a:solidFill>
                <a:highlight>
                  <a:schemeClr val="lt1"/>
                </a:highlight>
                <a:latin typeface="Times New Roman"/>
                <a:ea typeface="Times New Roman"/>
                <a:cs typeface="Times New Roman"/>
                <a:sym typeface="Times New Roman"/>
              </a:rPr>
              <a:t>layers.LSTM(64, return_sequences=True, dropout=0.3, recurrent_dropout=0.3),</a:t>
            </a:r>
            <a:endParaRPr sz="1400">
              <a:solidFill>
                <a:srgbClr val="0000FF"/>
              </a:solidFill>
              <a:highlight>
                <a:schemeClr val="lt1"/>
              </a:highlight>
              <a:latin typeface="Times New Roman"/>
              <a:ea typeface="Times New Roman"/>
              <a:cs typeface="Times New Roman"/>
              <a:sym typeface="Times New Roman"/>
            </a:endParaRPr>
          </a:p>
          <a:p>
            <a:pPr indent="457200" lvl="0" marL="457200" rtl="0" algn="l">
              <a:lnSpc>
                <a:spcPct val="115714"/>
              </a:lnSpc>
              <a:spcBef>
                <a:spcPts val="0"/>
              </a:spcBef>
              <a:spcAft>
                <a:spcPts val="0"/>
              </a:spcAft>
              <a:buNone/>
            </a:pPr>
            <a:r>
              <a:rPr lang="tr" sz="1400">
                <a:solidFill>
                  <a:srgbClr val="0000FF"/>
                </a:solidFill>
                <a:highlight>
                  <a:schemeClr val="lt1"/>
                </a:highlight>
                <a:latin typeface="Times New Roman"/>
                <a:ea typeface="Times New Roman"/>
                <a:cs typeface="Times New Roman"/>
                <a:sym typeface="Times New Roman"/>
              </a:rPr>
              <a:t>layers.LSTM(32, dropout=0.3, recurrent_dropout=0.3),</a:t>
            </a:r>
            <a:endParaRPr sz="1400">
              <a:solidFill>
                <a:srgbClr val="0000FF"/>
              </a:solidFill>
              <a:highlight>
                <a:schemeClr val="lt1"/>
              </a:highlight>
              <a:latin typeface="Times New Roman"/>
              <a:ea typeface="Times New Roman"/>
              <a:cs typeface="Times New Roman"/>
              <a:sym typeface="Times New Roman"/>
            </a:endParaRPr>
          </a:p>
          <a:p>
            <a:pPr indent="0" lvl="0" marL="457200" rtl="0" algn="l">
              <a:lnSpc>
                <a:spcPct val="95000"/>
              </a:lnSpc>
              <a:spcBef>
                <a:spcPts val="0"/>
              </a:spcBef>
              <a:spcAft>
                <a:spcPts val="1200"/>
              </a:spcAft>
              <a:buNone/>
            </a:pPr>
            <a:r>
              <a:t/>
            </a:r>
            <a:endParaRPr sz="1400">
              <a:solidFill>
                <a:srgbClr val="000000"/>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THREE-LAYER LSTM MODELİ EĞİTİM AŞAMASI</a:t>
            </a:r>
            <a:endParaRPr/>
          </a:p>
          <a:p>
            <a:pPr indent="0" lvl="0" marL="0" rtl="0" algn="l">
              <a:spcBef>
                <a:spcPts val="0"/>
              </a:spcBef>
              <a:spcAft>
                <a:spcPts val="0"/>
              </a:spcAft>
              <a:buNone/>
            </a:pPr>
            <a:r>
              <a:t/>
            </a:r>
            <a:endParaRPr/>
          </a:p>
        </p:txBody>
      </p:sp>
      <p:sp>
        <p:nvSpPr>
          <p:cNvPr id="169" name="Google Shape;169;p2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tr" sz="1900">
                <a:solidFill>
                  <a:srgbClr val="000000"/>
                </a:solidFill>
                <a:latin typeface="Times New Roman"/>
                <a:ea typeface="Times New Roman"/>
                <a:cs typeface="Times New Roman"/>
                <a:sym typeface="Times New Roman"/>
              </a:rPr>
              <a:t>Model, üç katmanlı LSTM mimarisiyle, yorum verilerini öğrenmek üzere eğitim verisiyle beslendi. Her epoch sonunda doğrulama verisiyle test edildi. 128’erli gruplarla (batch) öğrenme yapıldı. Callback’lerle eğitim süreci dinamik şekilde kontrol edildi.</a:t>
            </a:r>
            <a:endParaRPr sz="1900">
              <a:solidFill>
                <a:srgbClr val="000000"/>
              </a:solidFill>
              <a:latin typeface="Times New Roman"/>
              <a:ea typeface="Times New Roman"/>
              <a:cs typeface="Times New Roman"/>
              <a:sym typeface="Times New Roman"/>
            </a:endParaRPr>
          </a:p>
          <a:p>
            <a:pPr indent="0" lvl="0" marL="0" rtl="0" algn="l">
              <a:lnSpc>
                <a:spcPct val="135714"/>
              </a:lnSpc>
              <a:spcBef>
                <a:spcPts val="1200"/>
              </a:spcBef>
              <a:spcAft>
                <a:spcPts val="0"/>
              </a:spcAft>
              <a:buNone/>
            </a:pPr>
            <a:r>
              <a:rPr lang="tr" sz="1366">
                <a:solidFill>
                  <a:srgbClr val="0000FF"/>
                </a:solidFill>
                <a:highlight>
                  <a:schemeClr val="lt1"/>
                </a:highlight>
                <a:latin typeface="Courier New"/>
                <a:ea typeface="Courier New"/>
                <a:cs typeface="Courier New"/>
                <a:sym typeface="Courier New"/>
              </a:rPr>
              <a:t>history = model.fit(</a:t>
            </a:r>
            <a:endParaRPr sz="1366">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366">
                <a:solidFill>
                  <a:srgbClr val="0000FF"/>
                </a:solidFill>
                <a:highlight>
                  <a:schemeClr val="lt1"/>
                </a:highlight>
                <a:latin typeface="Courier New"/>
                <a:ea typeface="Courier New"/>
                <a:cs typeface="Courier New"/>
                <a:sym typeface="Courier New"/>
              </a:rPr>
              <a:t>    X_train_pad, y_train_cat,</a:t>
            </a:r>
            <a:endParaRPr sz="1366">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366">
                <a:solidFill>
                  <a:srgbClr val="0000FF"/>
                </a:solidFill>
                <a:highlight>
                  <a:schemeClr val="lt1"/>
                </a:highlight>
                <a:latin typeface="Courier New"/>
                <a:ea typeface="Courier New"/>
                <a:cs typeface="Courier New"/>
                <a:sym typeface="Courier New"/>
              </a:rPr>
              <a:t>    validation_data=(X_val_pad, y_val_cat),</a:t>
            </a:r>
            <a:endParaRPr sz="1366">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366">
                <a:solidFill>
                  <a:srgbClr val="0000FF"/>
                </a:solidFill>
                <a:highlight>
                  <a:schemeClr val="lt1"/>
                </a:highlight>
                <a:latin typeface="Courier New"/>
                <a:ea typeface="Courier New"/>
                <a:cs typeface="Courier New"/>
                <a:sym typeface="Courier New"/>
              </a:rPr>
              <a:t>    epochs=20,</a:t>
            </a:r>
            <a:endParaRPr sz="1366">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366">
                <a:solidFill>
                  <a:srgbClr val="0000FF"/>
                </a:solidFill>
                <a:highlight>
                  <a:schemeClr val="lt1"/>
                </a:highlight>
                <a:latin typeface="Courier New"/>
                <a:ea typeface="Courier New"/>
                <a:cs typeface="Courier New"/>
                <a:sym typeface="Courier New"/>
              </a:rPr>
              <a:t>    batch_size=128,</a:t>
            </a:r>
            <a:endParaRPr sz="1366">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366">
                <a:solidFill>
                  <a:srgbClr val="0000FF"/>
                </a:solidFill>
                <a:highlight>
                  <a:schemeClr val="lt1"/>
                </a:highlight>
                <a:latin typeface="Courier New"/>
                <a:ea typeface="Courier New"/>
                <a:cs typeface="Courier New"/>
                <a:sym typeface="Courier New"/>
              </a:rPr>
              <a:t>    callbacks=cb,</a:t>
            </a:r>
            <a:endParaRPr sz="1366">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366">
                <a:solidFill>
                  <a:srgbClr val="0000FF"/>
                </a:solidFill>
                <a:highlight>
                  <a:schemeClr val="lt1"/>
                </a:highlight>
                <a:latin typeface="Courier New"/>
                <a:ea typeface="Courier New"/>
                <a:cs typeface="Courier New"/>
                <a:sym typeface="Courier New"/>
              </a:rPr>
              <a:t>    verbose=1</a:t>
            </a:r>
            <a:endParaRPr sz="1366">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366">
                <a:solidFill>
                  <a:srgbClr val="0000FF"/>
                </a:solidFill>
                <a:highlight>
                  <a:schemeClr val="lt1"/>
                </a:highlight>
                <a:latin typeface="Courier New"/>
                <a:ea typeface="Courier New"/>
                <a:cs typeface="Courier New"/>
                <a:sym typeface="Courier New"/>
              </a:rPr>
              <a:t>)</a:t>
            </a:r>
            <a:endParaRPr sz="1366">
              <a:solidFill>
                <a:srgbClr val="0000FF"/>
              </a:solidFill>
              <a:highlight>
                <a:schemeClr val="lt1"/>
              </a:highlight>
              <a:latin typeface="Courier New"/>
              <a:ea typeface="Courier New"/>
              <a:cs typeface="Courier New"/>
              <a:sym typeface="Courier New"/>
            </a:endParaRPr>
          </a:p>
          <a:p>
            <a:pPr indent="0" lvl="0" marL="0" rtl="0" algn="l">
              <a:spcBef>
                <a:spcPts val="0"/>
              </a:spcBef>
              <a:spcAft>
                <a:spcPts val="1200"/>
              </a:spcAft>
              <a:buNone/>
            </a:pPr>
            <a:r>
              <a:t/>
            </a:r>
            <a:endParaRPr sz="1900">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0"/>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THREE-LAYER LSTM MODEL PERFORMANSI</a:t>
            </a:r>
            <a:endParaRPr/>
          </a:p>
        </p:txBody>
      </p:sp>
      <p:sp>
        <p:nvSpPr>
          <p:cNvPr id="175" name="Google Shape;175;p30"/>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tr">
                <a:solidFill>
                  <a:srgbClr val="1E1E1E"/>
                </a:solidFill>
                <a:latin typeface="Times New Roman"/>
                <a:ea typeface="Times New Roman"/>
                <a:cs typeface="Times New Roman"/>
                <a:sym typeface="Times New Roman"/>
              </a:rPr>
              <a:t>Model eğitildikten sonra test verisi üzerinde değerlendirme yapılmıştır. Aşağıda sınıf bazlı sonuçlar yer alıyor:</a:t>
            </a:r>
            <a:endParaRPr>
              <a:solidFill>
                <a:srgbClr val="1E1E1E"/>
              </a:solidFill>
              <a:latin typeface="Times New Roman"/>
              <a:ea typeface="Times New Roman"/>
              <a:cs typeface="Times New Roman"/>
              <a:sym typeface="Times New Roman"/>
            </a:endParaRPr>
          </a:p>
          <a:p>
            <a:pPr indent="457200" lvl="0" marL="457200" rtl="0" algn="l">
              <a:spcBef>
                <a:spcPts val="1200"/>
              </a:spcBef>
              <a:spcAft>
                <a:spcPts val="0"/>
              </a:spcAft>
              <a:buNone/>
            </a:pPr>
            <a:r>
              <a:rPr lang="tr" sz="1352">
                <a:solidFill>
                  <a:srgbClr val="4A86E8"/>
                </a:solidFill>
                <a:latin typeface="Times New Roman"/>
                <a:ea typeface="Times New Roman"/>
                <a:cs typeface="Times New Roman"/>
                <a:sym typeface="Times New Roman"/>
              </a:rPr>
              <a:t>precision    recall    f1-score   support</a:t>
            </a:r>
            <a:endParaRPr sz="1352">
              <a:solidFill>
                <a:srgbClr val="4A86E8"/>
              </a:solidFill>
              <a:latin typeface="Times New Roman"/>
              <a:ea typeface="Times New Roman"/>
              <a:cs typeface="Times New Roman"/>
              <a:sym typeface="Times New Roman"/>
            </a:endParaRPr>
          </a:p>
          <a:p>
            <a:pPr indent="0" lvl="0" marL="0" rtl="0" algn="l">
              <a:spcBef>
                <a:spcPts val="1200"/>
              </a:spcBef>
              <a:spcAft>
                <a:spcPts val="0"/>
              </a:spcAft>
              <a:buNone/>
            </a:pPr>
            <a:r>
              <a:rPr lang="tr" sz="1352">
                <a:solidFill>
                  <a:srgbClr val="4A86E8"/>
                </a:solidFill>
                <a:latin typeface="Times New Roman"/>
                <a:ea typeface="Times New Roman"/>
                <a:cs typeface="Times New Roman"/>
                <a:sym typeface="Times New Roman"/>
              </a:rPr>
              <a:t>negatif           0.72           0.76        0.74        2000</a:t>
            </a:r>
            <a:endParaRPr sz="1352">
              <a:solidFill>
                <a:srgbClr val="4A86E8"/>
              </a:solidFill>
              <a:latin typeface="Times New Roman"/>
              <a:ea typeface="Times New Roman"/>
              <a:cs typeface="Times New Roman"/>
              <a:sym typeface="Times New Roman"/>
            </a:endParaRPr>
          </a:p>
          <a:p>
            <a:pPr indent="0" lvl="0" marL="0" rtl="0" algn="l">
              <a:spcBef>
                <a:spcPts val="1200"/>
              </a:spcBef>
              <a:spcAft>
                <a:spcPts val="0"/>
              </a:spcAft>
              <a:buNone/>
            </a:pPr>
            <a:r>
              <a:rPr lang="tr" sz="1352">
                <a:solidFill>
                  <a:srgbClr val="4A86E8"/>
                </a:solidFill>
                <a:latin typeface="Times New Roman"/>
                <a:ea typeface="Times New Roman"/>
                <a:cs typeface="Times New Roman"/>
                <a:sym typeface="Times New Roman"/>
              </a:rPr>
              <a:t>notr                0.78          0.69        0.73        2000</a:t>
            </a:r>
            <a:endParaRPr sz="1352">
              <a:solidFill>
                <a:srgbClr val="4A86E8"/>
              </a:solidFill>
              <a:latin typeface="Times New Roman"/>
              <a:ea typeface="Times New Roman"/>
              <a:cs typeface="Times New Roman"/>
              <a:sym typeface="Times New Roman"/>
            </a:endParaRPr>
          </a:p>
          <a:p>
            <a:pPr indent="0" lvl="0" marL="0" rtl="0" algn="l">
              <a:spcBef>
                <a:spcPts val="1200"/>
              </a:spcBef>
              <a:spcAft>
                <a:spcPts val="0"/>
              </a:spcAft>
              <a:buNone/>
            </a:pPr>
            <a:r>
              <a:rPr lang="tr" sz="1352">
                <a:solidFill>
                  <a:srgbClr val="4A86E8"/>
                </a:solidFill>
                <a:latin typeface="Times New Roman"/>
                <a:ea typeface="Times New Roman"/>
                <a:cs typeface="Times New Roman"/>
                <a:sym typeface="Times New Roman"/>
              </a:rPr>
              <a:t>pozitif             0.77          0.82       0.80        2000</a:t>
            </a:r>
            <a:endParaRPr sz="1352">
              <a:solidFill>
                <a:srgbClr val="4A86E8"/>
              </a:solidFill>
              <a:latin typeface="Times New Roman"/>
              <a:ea typeface="Times New Roman"/>
              <a:cs typeface="Times New Roman"/>
              <a:sym typeface="Times New Roman"/>
            </a:endParaRPr>
          </a:p>
          <a:p>
            <a:pPr indent="0" lvl="0" marL="0" rtl="0" algn="l">
              <a:spcBef>
                <a:spcPts val="1200"/>
              </a:spcBef>
              <a:spcAft>
                <a:spcPts val="0"/>
              </a:spcAft>
              <a:buNone/>
            </a:pPr>
            <a:r>
              <a:rPr lang="tr" sz="1352">
                <a:solidFill>
                  <a:srgbClr val="4A86E8"/>
                </a:solidFill>
                <a:latin typeface="Times New Roman"/>
                <a:ea typeface="Times New Roman"/>
                <a:cs typeface="Times New Roman"/>
                <a:sym typeface="Times New Roman"/>
              </a:rPr>
              <a:t>accuracy                           	            0.76        6000</a:t>
            </a:r>
            <a:endParaRPr sz="1352">
              <a:solidFill>
                <a:srgbClr val="4A86E8"/>
              </a:solidFill>
              <a:latin typeface="Times New Roman"/>
              <a:ea typeface="Times New Roman"/>
              <a:cs typeface="Times New Roman"/>
              <a:sym typeface="Times New Roman"/>
            </a:endParaRPr>
          </a:p>
          <a:p>
            <a:pPr indent="0" lvl="0" marL="0" rtl="0" algn="l">
              <a:spcBef>
                <a:spcPts val="1200"/>
              </a:spcBef>
              <a:spcAft>
                <a:spcPts val="0"/>
              </a:spcAft>
              <a:buNone/>
            </a:pPr>
            <a:r>
              <a:rPr lang="tr" sz="1352">
                <a:solidFill>
                  <a:srgbClr val="4A86E8"/>
                </a:solidFill>
                <a:latin typeface="Times New Roman"/>
                <a:ea typeface="Times New Roman"/>
                <a:cs typeface="Times New Roman"/>
                <a:sym typeface="Times New Roman"/>
              </a:rPr>
              <a:t>macro avg       0.76          0.76       0.76        6000</a:t>
            </a:r>
            <a:endParaRPr sz="1352">
              <a:solidFill>
                <a:srgbClr val="4A86E8"/>
              </a:solidFill>
              <a:latin typeface="Times New Roman"/>
              <a:ea typeface="Times New Roman"/>
              <a:cs typeface="Times New Roman"/>
              <a:sym typeface="Times New Roman"/>
            </a:endParaRPr>
          </a:p>
          <a:p>
            <a:pPr indent="0" lvl="0" marL="0" rtl="0" algn="l">
              <a:spcBef>
                <a:spcPts val="1200"/>
              </a:spcBef>
              <a:spcAft>
                <a:spcPts val="1200"/>
              </a:spcAft>
              <a:buNone/>
            </a:pPr>
            <a:r>
              <a:rPr lang="tr" sz="1352">
                <a:solidFill>
                  <a:srgbClr val="4A86E8"/>
                </a:solidFill>
                <a:latin typeface="Times New Roman"/>
                <a:ea typeface="Times New Roman"/>
                <a:cs typeface="Times New Roman"/>
                <a:sym typeface="Times New Roman"/>
              </a:rPr>
              <a:t>weighted avg   0.76         0.76       0.76        6000</a:t>
            </a:r>
            <a:endParaRPr sz="2102">
              <a:solidFill>
                <a:srgbClr val="4A86E8"/>
              </a:solidFill>
              <a:latin typeface="Times New Roman"/>
              <a:ea typeface="Times New Roman"/>
              <a:cs typeface="Times New Roman"/>
              <a:sym typeface="Times New Roman"/>
            </a:endParaRPr>
          </a:p>
        </p:txBody>
      </p:sp>
      <p:sp>
        <p:nvSpPr>
          <p:cNvPr id="176" name="Google Shape;176;p30"/>
          <p:cNvSpPr/>
          <p:nvPr/>
        </p:nvSpPr>
        <p:spPr>
          <a:xfrm>
            <a:off x="4077200" y="2940475"/>
            <a:ext cx="939600" cy="563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
        <p:nvSpPr>
          <p:cNvPr id="177" name="Google Shape;177;p30"/>
          <p:cNvSpPr txBox="1"/>
          <p:nvPr/>
        </p:nvSpPr>
        <p:spPr>
          <a:xfrm>
            <a:off x="5159100" y="1719175"/>
            <a:ext cx="3897300" cy="302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tr" sz="1600">
                <a:solidFill>
                  <a:srgbClr val="CC4125"/>
                </a:solidFill>
                <a:latin typeface="Times New Roman"/>
                <a:ea typeface="Times New Roman"/>
                <a:cs typeface="Times New Roman"/>
                <a:sym typeface="Times New Roman"/>
              </a:rPr>
              <a:t>Model en başarılı sonucu pozitif sınıfta elde etmiş (F1 = 0.80), bu da olumlu yorumları iyi tanıdığını gösteriyor.</a:t>
            </a:r>
            <a:br>
              <a:rPr lang="tr" sz="1600">
                <a:solidFill>
                  <a:srgbClr val="CC4125"/>
                </a:solidFill>
                <a:latin typeface="Times New Roman"/>
                <a:ea typeface="Times New Roman"/>
                <a:cs typeface="Times New Roman"/>
                <a:sym typeface="Times New Roman"/>
              </a:rPr>
            </a:br>
            <a:endParaRPr sz="1600">
              <a:solidFill>
                <a:srgbClr val="CC4125"/>
              </a:solidFill>
              <a:latin typeface="Times New Roman"/>
              <a:ea typeface="Times New Roman"/>
              <a:cs typeface="Times New Roman"/>
              <a:sym typeface="Times New Roman"/>
            </a:endParaRPr>
          </a:p>
          <a:p>
            <a:pPr indent="0" lvl="0" marL="0" rtl="0" algn="l">
              <a:spcBef>
                <a:spcPts val="0"/>
              </a:spcBef>
              <a:spcAft>
                <a:spcPts val="0"/>
              </a:spcAft>
              <a:buNone/>
            </a:pPr>
            <a:r>
              <a:rPr lang="tr" sz="1600">
                <a:solidFill>
                  <a:srgbClr val="CC4125"/>
                </a:solidFill>
                <a:latin typeface="Times New Roman"/>
                <a:ea typeface="Times New Roman"/>
                <a:cs typeface="Times New Roman"/>
                <a:sym typeface="Times New Roman"/>
              </a:rPr>
              <a:t>Nötr sınıfta recall biraz daha düşük → Model kararsız yorumları tanımakta zorlanmış olabilir.</a:t>
            </a:r>
            <a:endParaRPr sz="2300">
              <a:solidFill>
                <a:srgbClr val="CC4125"/>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tr" sz="1600">
                <a:solidFill>
                  <a:srgbClr val="CC4125"/>
                </a:solidFill>
                <a:latin typeface="Times New Roman"/>
                <a:ea typeface="Times New Roman"/>
                <a:cs typeface="Times New Roman"/>
                <a:sym typeface="Times New Roman"/>
              </a:rPr>
              <a:t>Genel Başarı:</a:t>
            </a:r>
            <a:endParaRPr sz="1600">
              <a:solidFill>
                <a:srgbClr val="CC4125"/>
              </a:solidFill>
              <a:latin typeface="Times New Roman"/>
              <a:ea typeface="Times New Roman"/>
              <a:cs typeface="Times New Roman"/>
              <a:sym typeface="Times New Roman"/>
            </a:endParaRPr>
          </a:p>
          <a:p>
            <a:pPr indent="-330200" lvl="0" marL="457200" rtl="0" algn="l">
              <a:lnSpc>
                <a:spcPct val="115000"/>
              </a:lnSpc>
              <a:spcBef>
                <a:spcPts val="1200"/>
              </a:spcBef>
              <a:spcAft>
                <a:spcPts val="0"/>
              </a:spcAft>
              <a:buClr>
                <a:srgbClr val="CC4125"/>
              </a:buClr>
              <a:buSzPts val="1600"/>
              <a:buFont typeface="Times New Roman"/>
              <a:buChar char="●"/>
            </a:pPr>
            <a:r>
              <a:rPr lang="tr" sz="1600">
                <a:solidFill>
                  <a:srgbClr val="CC4125"/>
                </a:solidFill>
                <a:latin typeface="Times New Roman"/>
                <a:ea typeface="Times New Roman"/>
                <a:cs typeface="Times New Roman"/>
                <a:sym typeface="Times New Roman"/>
              </a:rPr>
              <a:t>Accuracy (Doğruluk): %76</a:t>
            </a:r>
            <a:endParaRPr sz="1600">
              <a:solidFill>
                <a:srgbClr val="CC4125"/>
              </a:solidFill>
              <a:latin typeface="Times New Roman"/>
              <a:ea typeface="Times New Roman"/>
              <a:cs typeface="Times New Roman"/>
              <a:sym typeface="Times New Roman"/>
            </a:endParaRPr>
          </a:p>
          <a:p>
            <a:pPr indent="-330200" lvl="0" marL="457200" rtl="0" algn="l">
              <a:lnSpc>
                <a:spcPct val="115000"/>
              </a:lnSpc>
              <a:spcBef>
                <a:spcPts val="0"/>
              </a:spcBef>
              <a:spcAft>
                <a:spcPts val="0"/>
              </a:spcAft>
              <a:buClr>
                <a:srgbClr val="CC4125"/>
              </a:buClr>
              <a:buSzPts val="1600"/>
              <a:buFont typeface="Times New Roman"/>
              <a:buChar char="●"/>
            </a:pPr>
            <a:r>
              <a:rPr lang="tr" sz="1600">
                <a:solidFill>
                  <a:srgbClr val="CC4125"/>
                </a:solidFill>
                <a:latin typeface="Times New Roman"/>
                <a:ea typeface="Times New Roman"/>
                <a:cs typeface="Times New Roman"/>
                <a:sym typeface="Times New Roman"/>
              </a:rPr>
              <a:t>Macro F1 Skor: </a:t>
            </a:r>
            <a:r>
              <a:rPr lang="tr" sz="1600">
                <a:solidFill>
                  <a:srgbClr val="CC4125"/>
                </a:solidFill>
                <a:latin typeface="Times New Roman"/>
                <a:ea typeface="Times New Roman"/>
                <a:cs typeface="Times New Roman"/>
                <a:sym typeface="Times New Roman"/>
              </a:rPr>
              <a:t> %</a:t>
            </a:r>
            <a:r>
              <a:rPr lang="tr" sz="1600">
                <a:solidFill>
                  <a:srgbClr val="CC4125"/>
                </a:solidFill>
                <a:latin typeface="Times New Roman"/>
                <a:ea typeface="Times New Roman"/>
                <a:cs typeface="Times New Roman"/>
                <a:sym typeface="Times New Roman"/>
              </a:rPr>
              <a:t>76</a:t>
            </a:r>
            <a:endParaRPr sz="2300">
              <a:solidFill>
                <a:srgbClr val="CC4125"/>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BiLSTM MODELİ</a:t>
            </a:r>
            <a:endParaRPr/>
          </a:p>
        </p:txBody>
      </p:sp>
      <p:sp>
        <p:nvSpPr>
          <p:cNvPr id="183" name="Google Shape;183;p31"/>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a:solidFill>
                  <a:srgbClr val="000000"/>
                </a:solidFill>
                <a:latin typeface="Times New Roman"/>
                <a:ea typeface="Times New Roman"/>
                <a:cs typeface="Times New Roman"/>
                <a:sym typeface="Times New Roman"/>
              </a:rPr>
              <a:t>Bi-LSTM, klasik LSTM’in geliştirilmiş halidir.</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tr">
                <a:solidFill>
                  <a:srgbClr val="000000"/>
                </a:solidFill>
                <a:latin typeface="Times New Roman"/>
                <a:ea typeface="Times New Roman"/>
                <a:cs typeface="Times New Roman"/>
                <a:sym typeface="Times New Roman"/>
              </a:rPr>
              <a:t>Metni hem soldan sağa (ileri yönde) hem de sağdan sola (geri yönde) okuyarak bağlamı iki yönden de öğrenir.</a:t>
            </a:r>
            <a:endParaRPr>
              <a:solidFill>
                <a:srgbClr val="000000"/>
              </a:solidFill>
              <a:latin typeface="Times New Roman"/>
              <a:ea typeface="Times New Roman"/>
              <a:cs typeface="Times New Roman"/>
              <a:sym typeface="Times New Roman"/>
            </a:endParaRPr>
          </a:p>
          <a:p>
            <a:pPr indent="0" lvl="0" marL="0" rtl="0" algn="l">
              <a:spcBef>
                <a:spcPts val="1200"/>
              </a:spcBef>
              <a:spcAft>
                <a:spcPts val="0"/>
              </a:spcAft>
              <a:buNone/>
            </a:pPr>
            <a:r>
              <a:rPr lang="tr">
                <a:solidFill>
                  <a:srgbClr val="000000"/>
                </a:solidFill>
                <a:latin typeface="Times New Roman"/>
                <a:ea typeface="Times New Roman"/>
                <a:cs typeface="Times New Roman"/>
                <a:sym typeface="Times New Roman"/>
              </a:rPr>
              <a:t>Bu sayede kelimenin öncesi ve sonrası aynı anda dikkate alınır.</a:t>
            </a:r>
            <a:endParaRPr>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type="title"/>
          </p:nvPr>
        </p:nvSpPr>
        <p:spPr>
          <a:xfrm>
            <a:off x="178550" y="8657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BiLSTM MODEL MİMARİSİ</a:t>
            </a:r>
            <a:endParaRPr/>
          </a:p>
          <a:p>
            <a:pPr indent="0" lvl="0" marL="0" rtl="0" algn="l">
              <a:spcBef>
                <a:spcPts val="0"/>
              </a:spcBef>
              <a:spcAft>
                <a:spcPts val="0"/>
              </a:spcAft>
              <a:buNone/>
            </a:pPr>
            <a:r>
              <a:t/>
            </a:r>
            <a:endParaRPr/>
          </a:p>
        </p:txBody>
      </p:sp>
      <p:sp>
        <p:nvSpPr>
          <p:cNvPr id="189" name="Google Shape;189;p32"/>
          <p:cNvSpPr txBox="1"/>
          <p:nvPr>
            <p:ph idx="1" type="body"/>
          </p:nvPr>
        </p:nvSpPr>
        <p:spPr>
          <a:xfrm>
            <a:off x="0" y="611700"/>
            <a:ext cx="5782200" cy="392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sz="1500">
                <a:solidFill>
                  <a:srgbClr val="1E1E1E"/>
                </a:solidFill>
                <a:latin typeface="Times New Roman"/>
                <a:ea typeface="Times New Roman"/>
                <a:cs typeface="Times New Roman"/>
                <a:sym typeface="Times New Roman"/>
              </a:rPr>
              <a:t>Bu modelde, cümlelerin anlamını daha derin öğrenebilmek için hem çift yönlü (BiLSTM) hem de tek yönlü LSTM kullanıldı.</a:t>
            </a:r>
            <a:endParaRPr b="1" sz="1500">
              <a:solidFill>
                <a:srgbClr val="1E1E1E"/>
              </a:solidFill>
              <a:latin typeface="Times New Roman"/>
              <a:ea typeface="Times New Roman"/>
              <a:cs typeface="Times New Roman"/>
              <a:sym typeface="Times New Roman"/>
            </a:endParaRPr>
          </a:p>
          <a:p>
            <a:pPr indent="-323850" lvl="0" marL="457200" rtl="0" algn="l">
              <a:spcBef>
                <a:spcPts val="1200"/>
              </a:spcBef>
              <a:spcAft>
                <a:spcPts val="0"/>
              </a:spcAft>
              <a:buClr>
                <a:srgbClr val="1E1E1E"/>
              </a:buClr>
              <a:buSzPts val="1500"/>
              <a:buFont typeface="Arial"/>
              <a:buChar char="●"/>
            </a:pPr>
            <a:r>
              <a:rPr b="1" lang="tr" sz="1500">
                <a:solidFill>
                  <a:srgbClr val="1E1E1E"/>
                </a:solidFill>
                <a:latin typeface="Times New Roman"/>
                <a:ea typeface="Times New Roman"/>
                <a:cs typeface="Times New Roman"/>
                <a:sym typeface="Times New Roman"/>
              </a:rPr>
              <a:t>Embedding Katmanı: </a:t>
            </a:r>
            <a:r>
              <a:rPr lang="tr" sz="1500">
                <a:solidFill>
                  <a:srgbClr val="1E1E1E"/>
                </a:solidFill>
                <a:latin typeface="Times New Roman"/>
                <a:ea typeface="Times New Roman"/>
                <a:cs typeface="Times New Roman"/>
                <a:sym typeface="Times New Roman"/>
              </a:rPr>
              <a:t> Kelimeler vektör haline getirildi, modelin anlamı öğrenebilmesi sağlandı.</a:t>
            </a:r>
            <a:endParaRPr sz="1500">
              <a:solidFill>
                <a:srgbClr val="1E1E1E"/>
              </a:solidFill>
              <a:latin typeface="Times New Roman"/>
              <a:ea typeface="Times New Roman"/>
              <a:cs typeface="Times New Roman"/>
              <a:sym typeface="Times New Roman"/>
            </a:endParaRPr>
          </a:p>
          <a:p>
            <a:pPr indent="-323850" lvl="0" marL="457200" rtl="0" algn="l">
              <a:spcBef>
                <a:spcPts val="0"/>
              </a:spcBef>
              <a:spcAft>
                <a:spcPts val="0"/>
              </a:spcAft>
              <a:buClr>
                <a:srgbClr val="1E1E1E"/>
              </a:buClr>
              <a:buSzPts val="1500"/>
              <a:buFont typeface="Arial"/>
              <a:buChar char="●"/>
            </a:pPr>
            <a:r>
              <a:rPr b="1" lang="tr" sz="1500">
                <a:solidFill>
                  <a:srgbClr val="1E1E1E"/>
                </a:solidFill>
                <a:latin typeface="Times New Roman"/>
                <a:ea typeface="Times New Roman"/>
                <a:cs typeface="Times New Roman"/>
                <a:sym typeface="Times New Roman"/>
              </a:rPr>
              <a:t>Bidirectional LSTM (128): </a:t>
            </a:r>
            <a:r>
              <a:rPr lang="tr" sz="1500">
                <a:solidFill>
                  <a:srgbClr val="1E1E1E"/>
                </a:solidFill>
                <a:latin typeface="Times New Roman"/>
                <a:ea typeface="Times New Roman"/>
                <a:cs typeface="Times New Roman"/>
                <a:sym typeface="Times New Roman"/>
              </a:rPr>
              <a:t>Cümle hem baştan sona hem sondan başa okundu, çift yönlü bağlam yakalandı. return_sequences=True sayesinde çıktılar bir sonraki LSTM'e aktarılacak şekilde tam verildi.</a:t>
            </a:r>
            <a:endParaRPr sz="1500">
              <a:solidFill>
                <a:srgbClr val="1E1E1E"/>
              </a:solidFill>
              <a:latin typeface="Times New Roman"/>
              <a:ea typeface="Times New Roman"/>
              <a:cs typeface="Times New Roman"/>
              <a:sym typeface="Times New Roman"/>
            </a:endParaRPr>
          </a:p>
          <a:p>
            <a:pPr indent="-323850" lvl="0" marL="457200" rtl="0" algn="l">
              <a:spcBef>
                <a:spcPts val="0"/>
              </a:spcBef>
              <a:spcAft>
                <a:spcPts val="0"/>
              </a:spcAft>
              <a:buClr>
                <a:srgbClr val="1E1E1E"/>
              </a:buClr>
              <a:buSzPts val="1500"/>
              <a:buFont typeface="Arial"/>
              <a:buChar char="●"/>
            </a:pPr>
            <a:r>
              <a:rPr b="1" lang="tr" sz="1500">
                <a:solidFill>
                  <a:srgbClr val="1E1E1E"/>
                </a:solidFill>
                <a:latin typeface="Times New Roman"/>
                <a:ea typeface="Times New Roman"/>
                <a:cs typeface="Times New Roman"/>
                <a:sym typeface="Times New Roman"/>
              </a:rPr>
              <a:t>Dropout (0.5):</a:t>
            </a:r>
            <a:r>
              <a:rPr lang="tr" sz="1500">
                <a:solidFill>
                  <a:srgbClr val="1E1E1E"/>
                </a:solidFill>
                <a:latin typeface="Times New Roman"/>
                <a:ea typeface="Times New Roman"/>
                <a:cs typeface="Times New Roman"/>
                <a:sym typeface="Times New Roman"/>
              </a:rPr>
              <a:t>Öğrenmede aşırı ezberlemeyi engellemek için bazı bağlantılar geçici olarak kaldırıldı.</a:t>
            </a:r>
            <a:endParaRPr sz="1500">
              <a:solidFill>
                <a:srgbClr val="1E1E1E"/>
              </a:solidFill>
              <a:latin typeface="Times New Roman"/>
              <a:ea typeface="Times New Roman"/>
              <a:cs typeface="Times New Roman"/>
              <a:sym typeface="Times New Roman"/>
            </a:endParaRPr>
          </a:p>
          <a:p>
            <a:pPr indent="-323850" lvl="0" marL="457200" rtl="0" algn="l">
              <a:spcBef>
                <a:spcPts val="0"/>
              </a:spcBef>
              <a:spcAft>
                <a:spcPts val="0"/>
              </a:spcAft>
              <a:buClr>
                <a:srgbClr val="1E1E1E"/>
              </a:buClr>
              <a:buSzPts val="1500"/>
              <a:buFont typeface="Arial"/>
              <a:buChar char="●"/>
            </a:pPr>
            <a:r>
              <a:rPr b="1" lang="tr" sz="1500">
                <a:solidFill>
                  <a:srgbClr val="1E1E1E"/>
                </a:solidFill>
                <a:latin typeface="Times New Roman"/>
                <a:ea typeface="Times New Roman"/>
                <a:cs typeface="Times New Roman"/>
                <a:sym typeface="Times New Roman"/>
              </a:rPr>
              <a:t>LSTM (64):</a:t>
            </a:r>
            <a:r>
              <a:rPr lang="tr" sz="1500">
                <a:solidFill>
                  <a:srgbClr val="1E1E1E"/>
                </a:solidFill>
                <a:latin typeface="Times New Roman"/>
                <a:ea typeface="Times New Roman"/>
                <a:cs typeface="Times New Roman"/>
                <a:sym typeface="Times New Roman"/>
              </a:rPr>
              <a:t> BiLSTM sonrası gelen bilgiler tek yönlü olarak daha özet bir şekilde işlendi.</a:t>
            </a:r>
            <a:endParaRPr sz="1500">
              <a:solidFill>
                <a:srgbClr val="1E1E1E"/>
              </a:solidFill>
              <a:latin typeface="Times New Roman"/>
              <a:ea typeface="Times New Roman"/>
              <a:cs typeface="Times New Roman"/>
              <a:sym typeface="Times New Roman"/>
            </a:endParaRPr>
          </a:p>
          <a:p>
            <a:pPr indent="-323850" lvl="0" marL="457200" rtl="0" algn="l">
              <a:spcBef>
                <a:spcPts val="0"/>
              </a:spcBef>
              <a:spcAft>
                <a:spcPts val="0"/>
              </a:spcAft>
              <a:buClr>
                <a:srgbClr val="1E1E1E"/>
              </a:buClr>
              <a:buSzPts val="1500"/>
              <a:buFont typeface="Arial"/>
              <a:buChar char="●"/>
            </a:pPr>
            <a:r>
              <a:rPr b="1" lang="tr" sz="1500">
                <a:solidFill>
                  <a:srgbClr val="1E1E1E"/>
                </a:solidFill>
                <a:latin typeface="Times New Roman"/>
                <a:ea typeface="Times New Roman"/>
                <a:cs typeface="Times New Roman"/>
                <a:sym typeface="Times New Roman"/>
              </a:rPr>
              <a:t>Dense(64, activation="relu"): </a:t>
            </a:r>
            <a:r>
              <a:rPr lang="tr" sz="1500">
                <a:solidFill>
                  <a:srgbClr val="1E1E1E"/>
                </a:solidFill>
                <a:latin typeface="Times New Roman"/>
                <a:ea typeface="Times New Roman"/>
                <a:cs typeface="Times New Roman"/>
                <a:sym typeface="Times New Roman"/>
              </a:rPr>
              <a:t>Öznitelikler yoğunlaştırıldı, öğrenme güçlendirildi.</a:t>
            </a:r>
            <a:endParaRPr sz="1500">
              <a:solidFill>
                <a:srgbClr val="1E1E1E"/>
              </a:solidFill>
              <a:latin typeface="Times New Roman"/>
              <a:ea typeface="Times New Roman"/>
              <a:cs typeface="Times New Roman"/>
              <a:sym typeface="Times New Roman"/>
            </a:endParaRPr>
          </a:p>
          <a:p>
            <a:pPr indent="-323850" lvl="0" marL="457200" rtl="0" algn="l">
              <a:spcBef>
                <a:spcPts val="0"/>
              </a:spcBef>
              <a:spcAft>
                <a:spcPts val="0"/>
              </a:spcAft>
              <a:buClr>
                <a:srgbClr val="1E1E1E"/>
              </a:buClr>
              <a:buSzPts val="1500"/>
              <a:buFont typeface="Arial"/>
              <a:buChar char="●"/>
            </a:pPr>
            <a:r>
              <a:rPr b="1" lang="tr" sz="1500">
                <a:solidFill>
                  <a:srgbClr val="1E1E1E"/>
                </a:solidFill>
                <a:latin typeface="Times New Roman"/>
                <a:ea typeface="Times New Roman"/>
                <a:cs typeface="Times New Roman"/>
                <a:sym typeface="Times New Roman"/>
              </a:rPr>
              <a:t>Dense(3, activation="softmax"): </a:t>
            </a:r>
            <a:r>
              <a:rPr lang="tr" sz="1500">
                <a:solidFill>
                  <a:srgbClr val="1E1E1E"/>
                </a:solidFill>
                <a:latin typeface="Times New Roman"/>
                <a:ea typeface="Times New Roman"/>
                <a:cs typeface="Times New Roman"/>
                <a:sym typeface="Times New Roman"/>
              </a:rPr>
              <a:t> Model, sonucu üç sınıftan birine (negatif, notr, pozitif) tahmin etti.</a:t>
            </a:r>
            <a:endParaRPr sz="1500">
              <a:solidFill>
                <a:srgbClr val="1E1E1E"/>
              </a:solidFill>
              <a:latin typeface="Times New Roman"/>
              <a:ea typeface="Times New Roman"/>
              <a:cs typeface="Times New Roman"/>
              <a:sym typeface="Times New Roman"/>
            </a:endParaRPr>
          </a:p>
        </p:txBody>
      </p:sp>
      <p:sp>
        <p:nvSpPr>
          <p:cNvPr id="190" name="Google Shape;190;p32"/>
          <p:cNvSpPr txBox="1"/>
          <p:nvPr/>
        </p:nvSpPr>
        <p:spPr>
          <a:xfrm>
            <a:off x="5684275" y="793975"/>
            <a:ext cx="3459600" cy="38553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tr" sz="1450">
                <a:solidFill>
                  <a:srgbClr val="0000FF"/>
                </a:solidFill>
                <a:highlight>
                  <a:schemeClr val="lt1"/>
                </a:highlight>
                <a:latin typeface="Times New Roman"/>
                <a:ea typeface="Times New Roman"/>
                <a:cs typeface="Times New Roman"/>
                <a:sym typeface="Times New Roman"/>
              </a:rPr>
              <a:t>model = Sequential([</a:t>
            </a:r>
            <a:endParaRPr sz="1450">
              <a:solidFill>
                <a:srgbClr val="0000FF"/>
              </a:solidFill>
              <a:highlight>
                <a:schemeClr val="lt1"/>
              </a:highlight>
              <a:latin typeface="Times New Roman"/>
              <a:ea typeface="Times New Roman"/>
              <a:cs typeface="Times New Roman"/>
              <a:sym typeface="Times New Roman"/>
            </a:endParaRPr>
          </a:p>
          <a:p>
            <a:pPr indent="0" lvl="0" marL="0" rtl="0" algn="l">
              <a:lnSpc>
                <a:spcPct val="135714"/>
              </a:lnSpc>
              <a:spcBef>
                <a:spcPts val="0"/>
              </a:spcBef>
              <a:spcAft>
                <a:spcPts val="0"/>
              </a:spcAft>
              <a:buNone/>
            </a:pPr>
            <a:r>
              <a:rPr lang="tr" sz="1450">
                <a:solidFill>
                  <a:srgbClr val="0000FF"/>
                </a:solidFill>
                <a:highlight>
                  <a:schemeClr val="lt1"/>
                </a:highlight>
                <a:latin typeface="Times New Roman"/>
                <a:ea typeface="Times New Roman"/>
                <a:cs typeface="Times New Roman"/>
                <a:sym typeface="Times New Roman"/>
              </a:rPr>
              <a:t>   Embedding(input_dim=MAX_VOCAB, output_dim=128,input_length=MAX_LEN), Bidirectional(LSTM(128, return_sequences=True)),</a:t>
            </a:r>
            <a:endParaRPr sz="1450">
              <a:solidFill>
                <a:srgbClr val="0000FF"/>
              </a:solidFill>
              <a:highlight>
                <a:schemeClr val="lt1"/>
              </a:highlight>
              <a:latin typeface="Times New Roman"/>
              <a:ea typeface="Times New Roman"/>
              <a:cs typeface="Times New Roman"/>
              <a:sym typeface="Times New Roman"/>
            </a:endParaRPr>
          </a:p>
          <a:p>
            <a:pPr indent="0" lvl="0" marL="0" rtl="0" algn="l">
              <a:lnSpc>
                <a:spcPct val="135714"/>
              </a:lnSpc>
              <a:spcBef>
                <a:spcPts val="0"/>
              </a:spcBef>
              <a:spcAft>
                <a:spcPts val="0"/>
              </a:spcAft>
              <a:buNone/>
            </a:pPr>
            <a:r>
              <a:rPr lang="tr" sz="1450">
                <a:solidFill>
                  <a:srgbClr val="0000FF"/>
                </a:solidFill>
                <a:highlight>
                  <a:schemeClr val="lt1"/>
                </a:highlight>
                <a:latin typeface="Times New Roman"/>
                <a:ea typeface="Times New Roman"/>
                <a:cs typeface="Times New Roman"/>
                <a:sym typeface="Times New Roman"/>
              </a:rPr>
              <a:t>    Dropout(0.5),</a:t>
            </a:r>
            <a:endParaRPr sz="1450">
              <a:solidFill>
                <a:srgbClr val="0000FF"/>
              </a:solidFill>
              <a:highlight>
                <a:schemeClr val="lt1"/>
              </a:highlight>
              <a:latin typeface="Times New Roman"/>
              <a:ea typeface="Times New Roman"/>
              <a:cs typeface="Times New Roman"/>
              <a:sym typeface="Times New Roman"/>
            </a:endParaRPr>
          </a:p>
          <a:p>
            <a:pPr indent="0" lvl="0" marL="0" rtl="0" algn="l">
              <a:lnSpc>
                <a:spcPct val="135714"/>
              </a:lnSpc>
              <a:spcBef>
                <a:spcPts val="0"/>
              </a:spcBef>
              <a:spcAft>
                <a:spcPts val="0"/>
              </a:spcAft>
              <a:buNone/>
            </a:pPr>
            <a:r>
              <a:rPr lang="tr" sz="1450">
                <a:solidFill>
                  <a:srgbClr val="0000FF"/>
                </a:solidFill>
                <a:highlight>
                  <a:schemeClr val="lt1"/>
                </a:highlight>
                <a:latin typeface="Times New Roman"/>
                <a:ea typeface="Times New Roman"/>
                <a:cs typeface="Times New Roman"/>
                <a:sym typeface="Times New Roman"/>
              </a:rPr>
              <a:t>    LSTM(64),</a:t>
            </a:r>
            <a:endParaRPr sz="1450">
              <a:solidFill>
                <a:srgbClr val="0000FF"/>
              </a:solidFill>
              <a:highlight>
                <a:schemeClr val="lt1"/>
              </a:highlight>
              <a:latin typeface="Times New Roman"/>
              <a:ea typeface="Times New Roman"/>
              <a:cs typeface="Times New Roman"/>
              <a:sym typeface="Times New Roman"/>
            </a:endParaRPr>
          </a:p>
          <a:p>
            <a:pPr indent="0" lvl="0" marL="0" rtl="0" algn="l">
              <a:lnSpc>
                <a:spcPct val="135714"/>
              </a:lnSpc>
              <a:spcBef>
                <a:spcPts val="0"/>
              </a:spcBef>
              <a:spcAft>
                <a:spcPts val="0"/>
              </a:spcAft>
              <a:buNone/>
            </a:pPr>
            <a:r>
              <a:rPr lang="tr" sz="1450">
                <a:solidFill>
                  <a:srgbClr val="0000FF"/>
                </a:solidFill>
                <a:highlight>
                  <a:schemeClr val="lt1"/>
                </a:highlight>
                <a:latin typeface="Times New Roman"/>
                <a:ea typeface="Times New Roman"/>
                <a:cs typeface="Times New Roman"/>
                <a:sym typeface="Times New Roman"/>
              </a:rPr>
              <a:t>    Dropout(0.5),</a:t>
            </a:r>
            <a:endParaRPr sz="1450">
              <a:solidFill>
                <a:srgbClr val="0000FF"/>
              </a:solidFill>
              <a:highlight>
                <a:schemeClr val="lt1"/>
              </a:highlight>
              <a:latin typeface="Times New Roman"/>
              <a:ea typeface="Times New Roman"/>
              <a:cs typeface="Times New Roman"/>
              <a:sym typeface="Times New Roman"/>
            </a:endParaRPr>
          </a:p>
          <a:p>
            <a:pPr indent="0" lvl="0" marL="0" rtl="0" algn="l">
              <a:lnSpc>
                <a:spcPct val="135714"/>
              </a:lnSpc>
              <a:spcBef>
                <a:spcPts val="0"/>
              </a:spcBef>
              <a:spcAft>
                <a:spcPts val="0"/>
              </a:spcAft>
              <a:buNone/>
            </a:pPr>
            <a:r>
              <a:rPr lang="tr" sz="1450">
                <a:solidFill>
                  <a:srgbClr val="0000FF"/>
                </a:solidFill>
                <a:highlight>
                  <a:schemeClr val="lt1"/>
                </a:highlight>
                <a:latin typeface="Times New Roman"/>
                <a:ea typeface="Times New Roman"/>
                <a:cs typeface="Times New Roman"/>
                <a:sym typeface="Times New Roman"/>
              </a:rPr>
              <a:t>    Dense(64, activation="relu"),</a:t>
            </a:r>
            <a:endParaRPr sz="1450">
              <a:solidFill>
                <a:srgbClr val="0000FF"/>
              </a:solidFill>
              <a:highlight>
                <a:schemeClr val="lt1"/>
              </a:highlight>
              <a:latin typeface="Times New Roman"/>
              <a:ea typeface="Times New Roman"/>
              <a:cs typeface="Times New Roman"/>
              <a:sym typeface="Times New Roman"/>
            </a:endParaRPr>
          </a:p>
          <a:p>
            <a:pPr indent="0" lvl="0" marL="0" rtl="0" algn="l">
              <a:lnSpc>
                <a:spcPct val="135714"/>
              </a:lnSpc>
              <a:spcBef>
                <a:spcPts val="0"/>
              </a:spcBef>
              <a:spcAft>
                <a:spcPts val="0"/>
              </a:spcAft>
              <a:buNone/>
            </a:pPr>
            <a:r>
              <a:rPr lang="tr" sz="1450">
                <a:solidFill>
                  <a:srgbClr val="0000FF"/>
                </a:solidFill>
                <a:highlight>
                  <a:schemeClr val="lt1"/>
                </a:highlight>
                <a:latin typeface="Times New Roman"/>
                <a:ea typeface="Times New Roman"/>
                <a:cs typeface="Times New Roman"/>
                <a:sym typeface="Times New Roman"/>
              </a:rPr>
              <a:t>    Dense(3, activation="softmax")</a:t>
            </a:r>
            <a:endParaRPr sz="1450">
              <a:solidFill>
                <a:srgbClr val="0000FF"/>
              </a:solidFill>
              <a:highlight>
                <a:schemeClr val="lt1"/>
              </a:highlight>
              <a:latin typeface="Times New Roman"/>
              <a:ea typeface="Times New Roman"/>
              <a:cs typeface="Times New Roman"/>
              <a:sym typeface="Times New Roman"/>
            </a:endParaRPr>
          </a:p>
          <a:p>
            <a:pPr indent="0" lvl="0" marL="0" rtl="0" algn="l">
              <a:lnSpc>
                <a:spcPct val="135714"/>
              </a:lnSpc>
              <a:spcBef>
                <a:spcPts val="0"/>
              </a:spcBef>
              <a:spcAft>
                <a:spcPts val="0"/>
              </a:spcAft>
              <a:buNone/>
            </a:pPr>
            <a:r>
              <a:rPr lang="tr" sz="1450">
                <a:solidFill>
                  <a:srgbClr val="0000FF"/>
                </a:solidFill>
                <a:highlight>
                  <a:schemeClr val="lt1"/>
                </a:highlight>
                <a:latin typeface="Times New Roman"/>
                <a:ea typeface="Times New Roman"/>
                <a:cs typeface="Times New Roman"/>
                <a:sym typeface="Times New Roman"/>
              </a:rPr>
              <a:t>])</a:t>
            </a:r>
            <a:endParaRPr sz="1450">
              <a:solidFill>
                <a:srgbClr val="0000FF"/>
              </a:solidFill>
              <a:highlight>
                <a:schemeClr val="lt1"/>
              </a:highlight>
              <a:latin typeface="Times New Roman"/>
              <a:ea typeface="Times New Roman"/>
              <a:cs typeface="Times New Roman"/>
              <a:sym typeface="Times New Roman"/>
            </a:endParaRPr>
          </a:p>
          <a:p>
            <a:pPr indent="0" lvl="0" marL="0" rtl="0" algn="l">
              <a:spcBef>
                <a:spcPts val="0"/>
              </a:spcBef>
              <a:spcAft>
                <a:spcPts val="0"/>
              </a:spcAft>
              <a:buNone/>
            </a:pPr>
            <a:r>
              <a:t/>
            </a:r>
            <a:endParaRPr sz="2200">
              <a:solidFill>
                <a:srgbClr val="0000FF"/>
              </a:solidFill>
              <a:highlight>
                <a:schemeClr val="lt1"/>
              </a:highlight>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3"/>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BiLSTM MODELİ EĞİTİM AŞAMASI</a:t>
            </a:r>
            <a:endParaRPr/>
          </a:p>
        </p:txBody>
      </p:sp>
      <p:sp>
        <p:nvSpPr>
          <p:cNvPr id="196" name="Google Shape;196;p33"/>
          <p:cNvSpPr txBox="1"/>
          <p:nvPr>
            <p:ph idx="1" type="body"/>
          </p:nvPr>
        </p:nvSpPr>
        <p:spPr>
          <a:xfrm>
            <a:off x="311700" y="1266325"/>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sz="1600">
                <a:solidFill>
                  <a:srgbClr val="1E1E1E"/>
                </a:solidFill>
                <a:latin typeface="Times New Roman"/>
                <a:ea typeface="Times New Roman"/>
                <a:cs typeface="Times New Roman"/>
                <a:sym typeface="Times New Roman"/>
              </a:rPr>
              <a:t>Model, 30 epoch boyunca X_train_pad verisiyle eğitildi. Her epoch sonunda X_val_pad ile doğrulama yapıldı. EarlyStopping ile en iyi sonuçta durduruldu, ReduceLROnPlateau ile öğrenme hızı gerektiğinde azaltıldı. Batch_size=128 ile her adımda 128 örnek kullanılarak ağırlıklar güncellendi. </a:t>
            </a:r>
            <a:endParaRPr sz="1600">
              <a:solidFill>
                <a:srgbClr val="1E1E1E"/>
              </a:solidFill>
              <a:latin typeface="Times New Roman"/>
              <a:ea typeface="Times New Roman"/>
              <a:cs typeface="Times New Roman"/>
              <a:sym typeface="Times New Roman"/>
            </a:endParaRPr>
          </a:p>
          <a:p>
            <a:pPr indent="0" lvl="0" marL="0" rtl="0" algn="l">
              <a:lnSpc>
                <a:spcPct val="135714"/>
              </a:lnSpc>
              <a:spcBef>
                <a:spcPts val="1200"/>
              </a:spcBef>
              <a:spcAft>
                <a:spcPts val="0"/>
              </a:spcAft>
              <a:buNone/>
            </a:pPr>
            <a:r>
              <a:rPr lang="tr" sz="1600">
                <a:solidFill>
                  <a:srgbClr val="0000FF"/>
                </a:solidFill>
                <a:highlight>
                  <a:schemeClr val="lt1"/>
                </a:highlight>
                <a:latin typeface="Times New Roman"/>
                <a:ea typeface="Times New Roman"/>
                <a:cs typeface="Times New Roman"/>
                <a:sym typeface="Times New Roman"/>
              </a:rPr>
              <a:t>history = model.fit(</a:t>
            </a:r>
            <a:endParaRPr sz="1600">
              <a:solidFill>
                <a:srgbClr val="0000FF"/>
              </a:solidFill>
              <a:highlight>
                <a:schemeClr val="lt1"/>
              </a:highlight>
              <a:latin typeface="Times New Roman"/>
              <a:ea typeface="Times New Roman"/>
              <a:cs typeface="Times New Roman"/>
              <a:sym typeface="Times New Roman"/>
            </a:endParaRPr>
          </a:p>
          <a:p>
            <a:pPr indent="0" lvl="0" marL="0" rtl="0" algn="l">
              <a:lnSpc>
                <a:spcPct val="135714"/>
              </a:lnSpc>
              <a:spcBef>
                <a:spcPts val="0"/>
              </a:spcBef>
              <a:spcAft>
                <a:spcPts val="0"/>
              </a:spcAft>
              <a:buNone/>
            </a:pPr>
            <a:r>
              <a:rPr lang="tr" sz="1600">
                <a:solidFill>
                  <a:srgbClr val="0000FF"/>
                </a:solidFill>
                <a:highlight>
                  <a:schemeClr val="lt1"/>
                </a:highlight>
                <a:latin typeface="Times New Roman"/>
                <a:ea typeface="Times New Roman"/>
                <a:cs typeface="Times New Roman"/>
                <a:sym typeface="Times New Roman"/>
              </a:rPr>
              <a:t>    X_train_pad, y_train_cat,</a:t>
            </a:r>
            <a:endParaRPr sz="1600">
              <a:solidFill>
                <a:srgbClr val="0000FF"/>
              </a:solidFill>
              <a:highlight>
                <a:schemeClr val="lt1"/>
              </a:highlight>
              <a:latin typeface="Times New Roman"/>
              <a:ea typeface="Times New Roman"/>
              <a:cs typeface="Times New Roman"/>
              <a:sym typeface="Times New Roman"/>
            </a:endParaRPr>
          </a:p>
          <a:p>
            <a:pPr indent="0" lvl="0" marL="0" rtl="0" algn="l">
              <a:lnSpc>
                <a:spcPct val="135714"/>
              </a:lnSpc>
              <a:spcBef>
                <a:spcPts val="0"/>
              </a:spcBef>
              <a:spcAft>
                <a:spcPts val="0"/>
              </a:spcAft>
              <a:buNone/>
            </a:pPr>
            <a:r>
              <a:rPr lang="tr" sz="1600">
                <a:solidFill>
                  <a:srgbClr val="0000FF"/>
                </a:solidFill>
                <a:highlight>
                  <a:schemeClr val="lt1"/>
                </a:highlight>
                <a:latin typeface="Times New Roman"/>
                <a:ea typeface="Times New Roman"/>
                <a:cs typeface="Times New Roman"/>
                <a:sym typeface="Times New Roman"/>
              </a:rPr>
              <a:t>    validation_data=(X_val_pad, y_val_cat),</a:t>
            </a:r>
            <a:endParaRPr sz="1600">
              <a:solidFill>
                <a:srgbClr val="0000FF"/>
              </a:solidFill>
              <a:highlight>
                <a:schemeClr val="lt1"/>
              </a:highlight>
              <a:latin typeface="Times New Roman"/>
              <a:ea typeface="Times New Roman"/>
              <a:cs typeface="Times New Roman"/>
              <a:sym typeface="Times New Roman"/>
            </a:endParaRPr>
          </a:p>
          <a:p>
            <a:pPr indent="0" lvl="0" marL="0" rtl="0" algn="l">
              <a:lnSpc>
                <a:spcPct val="135714"/>
              </a:lnSpc>
              <a:spcBef>
                <a:spcPts val="0"/>
              </a:spcBef>
              <a:spcAft>
                <a:spcPts val="0"/>
              </a:spcAft>
              <a:buNone/>
            </a:pPr>
            <a:r>
              <a:rPr lang="tr" sz="1600">
                <a:solidFill>
                  <a:srgbClr val="0000FF"/>
                </a:solidFill>
                <a:highlight>
                  <a:schemeClr val="lt1"/>
                </a:highlight>
                <a:latin typeface="Times New Roman"/>
                <a:ea typeface="Times New Roman"/>
                <a:cs typeface="Times New Roman"/>
                <a:sym typeface="Times New Roman"/>
              </a:rPr>
              <a:t>    epochs=30,</a:t>
            </a:r>
            <a:endParaRPr sz="1600">
              <a:solidFill>
                <a:srgbClr val="0000FF"/>
              </a:solidFill>
              <a:highlight>
                <a:schemeClr val="lt1"/>
              </a:highlight>
              <a:latin typeface="Times New Roman"/>
              <a:ea typeface="Times New Roman"/>
              <a:cs typeface="Times New Roman"/>
              <a:sym typeface="Times New Roman"/>
            </a:endParaRPr>
          </a:p>
          <a:p>
            <a:pPr indent="0" lvl="0" marL="0" rtl="0" algn="l">
              <a:lnSpc>
                <a:spcPct val="135714"/>
              </a:lnSpc>
              <a:spcBef>
                <a:spcPts val="0"/>
              </a:spcBef>
              <a:spcAft>
                <a:spcPts val="0"/>
              </a:spcAft>
              <a:buNone/>
            </a:pPr>
            <a:r>
              <a:rPr lang="tr" sz="1600">
                <a:solidFill>
                  <a:srgbClr val="0000FF"/>
                </a:solidFill>
                <a:highlight>
                  <a:schemeClr val="lt1"/>
                </a:highlight>
                <a:latin typeface="Times New Roman"/>
                <a:ea typeface="Times New Roman"/>
                <a:cs typeface="Times New Roman"/>
                <a:sym typeface="Times New Roman"/>
              </a:rPr>
              <a:t>    batch_size=128,</a:t>
            </a:r>
            <a:endParaRPr sz="1600">
              <a:solidFill>
                <a:srgbClr val="0000FF"/>
              </a:solidFill>
              <a:highlight>
                <a:schemeClr val="lt1"/>
              </a:highlight>
              <a:latin typeface="Times New Roman"/>
              <a:ea typeface="Times New Roman"/>
              <a:cs typeface="Times New Roman"/>
              <a:sym typeface="Times New Roman"/>
            </a:endParaRPr>
          </a:p>
          <a:p>
            <a:pPr indent="0" lvl="0" marL="0" rtl="0" algn="l">
              <a:lnSpc>
                <a:spcPct val="135714"/>
              </a:lnSpc>
              <a:spcBef>
                <a:spcPts val="0"/>
              </a:spcBef>
              <a:spcAft>
                <a:spcPts val="0"/>
              </a:spcAft>
              <a:buNone/>
            </a:pPr>
            <a:r>
              <a:rPr lang="tr" sz="1600">
                <a:solidFill>
                  <a:srgbClr val="0000FF"/>
                </a:solidFill>
                <a:highlight>
                  <a:schemeClr val="lt1"/>
                </a:highlight>
                <a:latin typeface="Times New Roman"/>
                <a:ea typeface="Times New Roman"/>
                <a:cs typeface="Times New Roman"/>
                <a:sym typeface="Times New Roman"/>
              </a:rPr>
              <a:t>    callbacks=cb,</a:t>
            </a:r>
            <a:endParaRPr sz="1600">
              <a:solidFill>
                <a:srgbClr val="0000FF"/>
              </a:solidFill>
              <a:highlight>
                <a:schemeClr val="lt1"/>
              </a:highlight>
              <a:latin typeface="Times New Roman"/>
              <a:ea typeface="Times New Roman"/>
              <a:cs typeface="Times New Roman"/>
              <a:sym typeface="Times New Roman"/>
            </a:endParaRPr>
          </a:p>
          <a:p>
            <a:pPr indent="0" lvl="0" marL="0" rtl="0" algn="l">
              <a:lnSpc>
                <a:spcPct val="135714"/>
              </a:lnSpc>
              <a:spcBef>
                <a:spcPts val="0"/>
              </a:spcBef>
              <a:spcAft>
                <a:spcPts val="0"/>
              </a:spcAft>
              <a:buNone/>
            </a:pPr>
            <a:r>
              <a:rPr lang="tr" sz="1600">
                <a:solidFill>
                  <a:srgbClr val="0000FF"/>
                </a:solidFill>
                <a:highlight>
                  <a:schemeClr val="lt1"/>
                </a:highlight>
                <a:latin typeface="Times New Roman"/>
                <a:ea typeface="Times New Roman"/>
                <a:cs typeface="Times New Roman"/>
                <a:sym typeface="Times New Roman"/>
              </a:rPr>
              <a:t>    verbose=1</a:t>
            </a:r>
            <a:endParaRPr sz="1600">
              <a:solidFill>
                <a:srgbClr val="0000FF"/>
              </a:solidFill>
              <a:highlight>
                <a:schemeClr val="lt1"/>
              </a:highlight>
              <a:latin typeface="Times New Roman"/>
              <a:ea typeface="Times New Roman"/>
              <a:cs typeface="Times New Roman"/>
              <a:sym typeface="Times New Roman"/>
            </a:endParaRPr>
          </a:p>
          <a:p>
            <a:pPr indent="0" lvl="0" marL="0" rtl="0" algn="l">
              <a:lnSpc>
                <a:spcPct val="135714"/>
              </a:lnSpc>
              <a:spcBef>
                <a:spcPts val="0"/>
              </a:spcBef>
              <a:spcAft>
                <a:spcPts val="0"/>
              </a:spcAft>
              <a:buNone/>
            </a:pPr>
            <a:r>
              <a:rPr lang="tr" sz="1600">
                <a:solidFill>
                  <a:srgbClr val="0000FF"/>
                </a:solidFill>
                <a:highlight>
                  <a:schemeClr val="lt1"/>
                </a:highlight>
                <a:latin typeface="Times New Roman"/>
                <a:ea typeface="Times New Roman"/>
                <a:cs typeface="Times New Roman"/>
                <a:sym typeface="Times New Roman"/>
              </a:rPr>
              <a:t>)</a:t>
            </a:r>
            <a:endParaRPr sz="1600">
              <a:solidFill>
                <a:srgbClr val="0000FF"/>
              </a:solidFill>
              <a:highlight>
                <a:schemeClr val="lt1"/>
              </a:highlight>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rgbClr val="1E1E1E"/>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600">
              <a:solidFill>
                <a:srgbClr val="1E1E1E"/>
              </a:solidFill>
              <a:latin typeface="Times New Roman"/>
              <a:ea typeface="Times New Roman"/>
              <a:cs typeface="Times New Roman"/>
              <a:sym typeface="Times New Roman"/>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BiLSTM MODELİ PERFORMANSI</a:t>
            </a:r>
            <a:endParaRPr/>
          </a:p>
          <a:p>
            <a:pPr indent="0" lvl="0" marL="0" rtl="0" algn="l">
              <a:spcBef>
                <a:spcPts val="0"/>
              </a:spcBef>
              <a:spcAft>
                <a:spcPts val="0"/>
              </a:spcAft>
              <a:buNone/>
            </a:pPr>
            <a:r>
              <a:t/>
            </a:r>
            <a:endParaRPr/>
          </a:p>
        </p:txBody>
      </p:sp>
      <p:sp>
        <p:nvSpPr>
          <p:cNvPr id="202" name="Google Shape;202;p34"/>
          <p:cNvSpPr txBox="1"/>
          <p:nvPr>
            <p:ph idx="1" type="body"/>
          </p:nvPr>
        </p:nvSpPr>
        <p:spPr>
          <a:xfrm>
            <a:off x="301458" y="1256083"/>
            <a:ext cx="85206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tr" sz="1400">
                <a:solidFill>
                  <a:srgbClr val="1E1E1E"/>
                </a:solidFill>
                <a:latin typeface="Times New Roman"/>
                <a:ea typeface="Times New Roman"/>
                <a:cs typeface="Times New Roman"/>
                <a:sym typeface="Times New Roman"/>
              </a:rPr>
              <a:t>Model eğitildikten sonra test verisi üzerinde değerlendirme yapılmıştır. Aşağıda sınıf bazlı sonuçlar yer alıyor:</a:t>
            </a:r>
            <a:endParaRPr sz="1400">
              <a:solidFill>
                <a:srgbClr val="1E1E1E"/>
              </a:solidFill>
              <a:latin typeface="Times New Roman"/>
              <a:ea typeface="Times New Roman"/>
              <a:cs typeface="Times New Roman"/>
              <a:sym typeface="Times New Roman"/>
            </a:endParaRPr>
          </a:p>
          <a:p>
            <a:pPr indent="0" lvl="0" marL="0" rtl="0" algn="l">
              <a:spcBef>
                <a:spcPts val="1200"/>
              </a:spcBef>
              <a:spcAft>
                <a:spcPts val="0"/>
              </a:spcAft>
              <a:buNone/>
            </a:pPr>
            <a:r>
              <a:rPr lang="tr" sz="1400">
                <a:solidFill>
                  <a:srgbClr val="4A86E8"/>
                </a:solidFill>
                <a:latin typeface="Times New Roman"/>
                <a:ea typeface="Times New Roman"/>
                <a:cs typeface="Times New Roman"/>
                <a:sym typeface="Times New Roman"/>
              </a:rPr>
              <a:t>precision    recall  f1-score   support</a:t>
            </a:r>
            <a:endParaRPr sz="1400">
              <a:solidFill>
                <a:srgbClr val="4A86E8"/>
              </a:solidFill>
              <a:latin typeface="Times New Roman"/>
              <a:ea typeface="Times New Roman"/>
              <a:cs typeface="Times New Roman"/>
              <a:sym typeface="Times New Roman"/>
            </a:endParaRPr>
          </a:p>
          <a:p>
            <a:pPr indent="0" lvl="0" marL="0" rtl="0" algn="l">
              <a:spcBef>
                <a:spcPts val="1200"/>
              </a:spcBef>
              <a:spcAft>
                <a:spcPts val="0"/>
              </a:spcAft>
              <a:buNone/>
            </a:pPr>
            <a:r>
              <a:rPr lang="tr" sz="1400">
                <a:solidFill>
                  <a:srgbClr val="4A86E8"/>
                </a:solidFill>
                <a:latin typeface="Times New Roman"/>
                <a:ea typeface="Times New Roman"/>
                <a:cs typeface="Times New Roman"/>
                <a:sym typeface="Times New Roman"/>
              </a:rPr>
              <a:t>     negatif       0.72      0.77      0.74      2000</a:t>
            </a:r>
            <a:endParaRPr sz="1400">
              <a:solidFill>
                <a:srgbClr val="4A86E8"/>
              </a:solidFill>
              <a:latin typeface="Times New Roman"/>
              <a:ea typeface="Times New Roman"/>
              <a:cs typeface="Times New Roman"/>
              <a:sym typeface="Times New Roman"/>
            </a:endParaRPr>
          </a:p>
          <a:p>
            <a:pPr indent="0" lvl="0" marL="0" rtl="0" algn="l">
              <a:spcBef>
                <a:spcPts val="1200"/>
              </a:spcBef>
              <a:spcAft>
                <a:spcPts val="0"/>
              </a:spcAft>
              <a:buNone/>
            </a:pPr>
            <a:r>
              <a:rPr lang="tr" sz="1400">
                <a:solidFill>
                  <a:srgbClr val="4A86E8"/>
                </a:solidFill>
                <a:latin typeface="Times New Roman"/>
                <a:ea typeface="Times New Roman"/>
                <a:cs typeface="Times New Roman"/>
                <a:sym typeface="Times New Roman"/>
              </a:rPr>
              <a:t>        notr       0.82      0.66      0.73      1834</a:t>
            </a:r>
            <a:endParaRPr sz="1400">
              <a:solidFill>
                <a:srgbClr val="4A86E8"/>
              </a:solidFill>
              <a:latin typeface="Times New Roman"/>
              <a:ea typeface="Times New Roman"/>
              <a:cs typeface="Times New Roman"/>
              <a:sym typeface="Times New Roman"/>
            </a:endParaRPr>
          </a:p>
          <a:p>
            <a:pPr indent="0" lvl="0" marL="0" rtl="0" algn="l">
              <a:spcBef>
                <a:spcPts val="1200"/>
              </a:spcBef>
              <a:spcAft>
                <a:spcPts val="0"/>
              </a:spcAft>
              <a:buNone/>
            </a:pPr>
            <a:r>
              <a:rPr lang="tr" sz="1400">
                <a:solidFill>
                  <a:srgbClr val="4A86E8"/>
                </a:solidFill>
                <a:latin typeface="Times New Roman"/>
                <a:ea typeface="Times New Roman"/>
                <a:cs typeface="Times New Roman"/>
                <a:sym typeface="Times New Roman"/>
              </a:rPr>
              <a:t>     pozitif       0.76      0.84      0.80      2000</a:t>
            </a:r>
            <a:endParaRPr sz="1400">
              <a:solidFill>
                <a:srgbClr val="4A86E8"/>
              </a:solidFill>
              <a:latin typeface="Times New Roman"/>
              <a:ea typeface="Times New Roman"/>
              <a:cs typeface="Times New Roman"/>
              <a:sym typeface="Times New Roman"/>
            </a:endParaRPr>
          </a:p>
          <a:p>
            <a:pPr indent="0" lvl="0" marL="0" rtl="0" algn="l">
              <a:spcBef>
                <a:spcPts val="1200"/>
              </a:spcBef>
              <a:spcAft>
                <a:spcPts val="0"/>
              </a:spcAft>
              <a:buNone/>
            </a:pPr>
            <a:r>
              <a:rPr lang="tr" sz="1400">
                <a:solidFill>
                  <a:srgbClr val="4A86E8"/>
                </a:solidFill>
                <a:latin typeface="Times New Roman"/>
                <a:ea typeface="Times New Roman"/>
                <a:cs typeface="Times New Roman"/>
                <a:sym typeface="Times New Roman"/>
              </a:rPr>
              <a:t>    accuracy                               0.76      5834</a:t>
            </a:r>
            <a:endParaRPr sz="1400">
              <a:solidFill>
                <a:srgbClr val="4A86E8"/>
              </a:solidFill>
              <a:latin typeface="Times New Roman"/>
              <a:ea typeface="Times New Roman"/>
              <a:cs typeface="Times New Roman"/>
              <a:sym typeface="Times New Roman"/>
            </a:endParaRPr>
          </a:p>
          <a:p>
            <a:pPr indent="0" lvl="0" marL="0" rtl="0" algn="l">
              <a:spcBef>
                <a:spcPts val="1200"/>
              </a:spcBef>
              <a:spcAft>
                <a:spcPts val="0"/>
              </a:spcAft>
              <a:buNone/>
            </a:pPr>
            <a:r>
              <a:rPr lang="tr" sz="1400">
                <a:solidFill>
                  <a:srgbClr val="4A86E8"/>
                </a:solidFill>
                <a:latin typeface="Times New Roman"/>
                <a:ea typeface="Times New Roman"/>
                <a:cs typeface="Times New Roman"/>
                <a:sym typeface="Times New Roman"/>
              </a:rPr>
              <a:t>   macro avg       0.76      0.76      0.76      5834</a:t>
            </a:r>
            <a:endParaRPr sz="1400">
              <a:solidFill>
                <a:srgbClr val="4A86E8"/>
              </a:solidFill>
              <a:latin typeface="Times New Roman"/>
              <a:ea typeface="Times New Roman"/>
              <a:cs typeface="Times New Roman"/>
              <a:sym typeface="Times New Roman"/>
            </a:endParaRPr>
          </a:p>
          <a:p>
            <a:pPr indent="0" lvl="0" marL="0" rtl="0" algn="l">
              <a:spcBef>
                <a:spcPts val="1200"/>
              </a:spcBef>
              <a:spcAft>
                <a:spcPts val="0"/>
              </a:spcAft>
              <a:buNone/>
            </a:pPr>
            <a:r>
              <a:rPr lang="tr" sz="1400">
                <a:solidFill>
                  <a:srgbClr val="4A86E8"/>
                </a:solidFill>
                <a:latin typeface="Times New Roman"/>
                <a:ea typeface="Times New Roman"/>
                <a:cs typeface="Times New Roman"/>
                <a:sym typeface="Times New Roman"/>
              </a:rPr>
              <a:t>weighted avg       0.76      0.76      0.76      5834</a:t>
            </a:r>
            <a:endParaRPr sz="1400">
              <a:solidFill>
                <a:srgbClr val="4A86E8"/>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400">
              <a:solidFill>
                <a:srgbClr val="4A86E8"/>
              </a:solidFill>
              <a:latin typeface="Times New Roman"/>
              <a:ea typeface="Times New Roman"/>
              <a:cs typeface="Times New Roman"/>
              <a:sym typeface="Times New Roman"/>
            </a:endParaRPr>
          </a:p>
        </p:txBody>
      </p:sp>
      <p:sp>
        <p:nvSpPr>
          <p:cNvPr id="203" name="Google Shape;203;p34"/>
          <p:cNvSpPr txBox="1"/>
          <p:nvPr/>
        </p:nvSpPr>
        <p:spPr>
          <a:xfrm>
            <a:off x="4735875" y="1691675"/>
            <a:ext cx="4301700" cy="3519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tr">
                <a:solidFill>
                  <a:srgbClr val="CC4125"/>
                </a:solidFill>
                <a:latin typeface="Times New Roman"/>
                <a:ea typeface="Times New Roman"/>
                <a:cs typeface="Times New Roman"/>
                <a:sym typeface="Times New Roman"/>
              </a:rPr>
              <a:t> </a:t>
            </a:r>
            <a:r>
              <a:rPr b="1" lang="tr">
                <a:solidFill>
                  <a:srgbClr val="CC4125"/>
                </a:solidFill>
                <a:latin typeface="Times New Roman"/>
                <a:ea typeface="Times New Roman"/>
                <a:cs typeface="Times New Roman"/>
                <a:sym typeface="Times New Roman"/>
              </a:rPr>
              <a:t>Modelin En Başarılı Olduğu Sınıf:</a:t>
            </a:r>
            <a:r>
              <a:rPr lang="tr">
                <a:solidFill>
                  <a:srgbClr val="CC4125"/>
                </a:solidFill>
                <a:latin typeface="Times New Roman"/>
                <a:ea typeface="Times New Roman"/>
                <a:cs typeface="Times New Roman"/>
                <a:sym typeface="Times New Roman"/>
              </a:rPr>
              <a:t> Pozitif sınıfta yüksek F1 (örneğin 0.80) → Model olumlu ifadeleri doğru yakalamış.</a:t>
            </a:r>
            <a:endParaRPr>
              <a:solidFill>
                <a:srgbClr val="CC4125"/>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tr">
                <a:solidFill>
                  <a:srgbClr val="CC4125"/>
                </a:solidFill>
                <a:latin typeface="Times New Roman"/>
                <a:ea typeface="Times New Roman"/>
                <a:cs typeface="Times New Roman"/>
                <a:sym typeface="Times New Roman"/>
              </a:rPr>
              <a:t> </a:t>
            </a:r>
            <a:r>
              <a:rPr b="1" lang="tr">
                <a:solidFill>
                  <a:srgbClr val="CC4125"/>
                </a:solidFill>
                <a:latin typeface="Times New Roman"/>
                <a:ea typeface="Times New Roman"/>
                <a:cs typeface="Times New Roman"/>
                <a:sym typeface="Times New Roman"/>
              </a:rPr>
              <a:t>Zorlandığı Sınıf: </a:t>
            </a:r>
            <a:r>
              <a:rPr lang="tr">
                <a:solidFill>
                  <a:srgbClr val="CC4125"/>
                </a:solidFill>
                <a:latin typeface="Times New Roman"/>
                <a:ea typeface="Times New Roman"/>
                <a:cs typeface="Times New Roman"/>
                <a:sym typeface="Times New Roman"/>
              </a:rPr>
              <a:t>Notr sınıfta recall düşük → Model kararsız/ortada yorumları sınıflandırmakta zorlanıyor olabilir.</a:t>
            </a:r>
            <a:endParaRPr>
              <a:solidFill>
                <a:srgbClr val="CC4125"/>
              </a:solidFill>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tr">
                <a:solidFill>
                  <a:srgbClr val="CC4125"/>
                </a:solidFill>
                <a:latin typeface="Times New Roman"/>
                <a:ea typeface="Times New Roman"/>
                <a:cs typeface="Times New Roman"/>
                <a:sym typeface="Times New Roman"/>
              </a:rPr>
              <a:t> Genel Başarı:</a:t>
            </a:r>
            <a:endParaRPr b="1">
              <a:solidFill>
                <a:srgbClr val="CC4125"/>
              </a:solidFill>
              <a:latin typeface="Times New Roman"/>
              <a:ea typeface="Times New Roman"/>
              <a:cs typeface="Times New Roman"/>
              <a:sym typeface="Times New Roman"/>
            </a:endParaRPr>
          </a:p>
          <a:p>
            <a:pPr indent="-317500" lvl="0" marL="457200" rtl="0" algn="l">
              <a:lnSpc>
                <a:spcPct val="115000"/>
              </a:lnSpc>
              <a:spcBef>
                <a:spcPts val="1200"/>
              </a:spcBef>
              <a:spcAft>
                <a:spcPts val="0"/>
              </a:spcAft>
              <a:buClr>
                <a:srgbClr val="CC4125"/>
              </a:buClr>
              <a:buSzPts val="1400"/>
              <a:buFont typeface="Times New Roman"/>
              <a:buChar char="●"/>
            </a:pPr>
            <a:r>
              <a:rPr lang="tr">
                <a:solidFill>
                  <a:srgbClr val="CC4125"/>
                </a:solidFill>
                <a:latin typeface="Times New Roman"/>
                <a:ea typeface="Times New Roman"/>
                <a:cs typeface="Times New Roman"/>
                <a:sym typeface="Times New Roman"/>
              </a:rPr>
              <a:t> Accuracy (Doğruluk): %76</a:t>
            </a:r>
            <a:br>
              <a:rPr lang="tr">
                <a:solidFill>
                  <a:srgbClr val="CC4125"/>
                </a:solidFill>
                <a:latin typeface="Times New Roman"/>
                <a:ea typeface="Times New Roman"/>
                <a:cs typeface="Times New Roman"/>
                <a:sym typeface="Times New Roman"/>
              </a:rPr>
            </a:br>
            <a:endParaRPr>
              <a:solidFill>
                <a:srgbClr val="CC4125"/>
              </a:solidFill>
              <a:latin typeface="Times New Roman"/>
              <a:ea typeface="Times New Roman"/>
              <a:cs typeface="Times New Roman"/>
              <a:sym typeface="Times New Roman"/>
            </a:endParaRPr>
          </a:p>
          <a:p>
            <a:pPr indent="-317500" lvl="0" marL="457200" rtl="0" algn="l">
              <a:lnSpc>
                <a:spcPct val="115000"/>
              </a:lnSpc>
              <a:spcBef>
                <a:spcPts val="0"/>
              </a:spcBef>
              <a:spcAft>
                <a:spcPts val="0"/>
              </a:spcAft>
              <a:buClr>
                <a:srgbClr val="CC4125"/>
              </a:buClr>
              <a:buSzPts val="1400"/>
              <a:buFont typeface="Times New Roman"/>
              <a:buChar char="●"/>
            </a:pPr>
            <a:r>
              <a:rPr lang="tr">
                <a:solidFill>
                  <a:srgbClr val="CC4125"/>
                </a:solidFill>
                <a:latin typeface="Times New Roman"/>
                <a:ea typeface="Times New Roman"/>
                <a:cs typeface="Times New Roman"/>
                <a:sym typeface="Times New Roman"/>
              </a:rPr>
              <a:t> Macro F1 Skor: %76</a:t>
            </a:r>
            <a:endParaRPr>
              <a:solidFill>
                <a:srgbClr val="CC4125"/>
              </a:solidFill>
              <a:latin typeface="Times New Roman"/>
              <a:ea typeface="Times New Roman"/>
              <a:cs typeface="Times New Roman"/>
              <a:sym typeface="Times New Roman"/>
            </a:endParaRPr>
          </a:p>
          <a:p>
            <a:pPr indent="0" lvl="0" marL="0" rtl="0" algn="l">
              <a:spcBef>
                <a:spcPts val="1200"/>
              </a:spcBef>
              <a:spcAft>
                <a:spcPts val="0"/>
              </a:spcAft>
              <a:buNone/>
            </a:pPr>
            <a:r>
              <a:t/>
            </a:r>
            <a:endParaRPr>
              <a:solidFill>
                <a:srgbClr val="CC4125"/>
              </a:solidFill>
              <a:latin typeface="Times New Roman"/>
              <a:ea typeface="Times New Roman"/>
              <a:cs typeface="Times New Roman"/>
              <a:sym typeface="Times New Roman"/>
            </a:endParaRPr>
          </a:p>
        </p:txBody>
      </p:sp>
      <p:sp>
        <p:nvSpPr>
          <p:cNvPr id="204" name="Google Shape;204;p34"/>
          <p:cNvSpPr/>
          <p:nvPr/>
        </p:nvSpPr>
        <p:spPr>
          <a:xfrm>
            <a:off x="3760850" y="2661575"/>
            <a:ext cx="675900" cy="491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CNN-LSTM MODELİ </a:t>
            </a:r>
            <a:endParaRPr/>
          </a:p>
        </p:txBody>
      </p:sp>
      <p:sp>
        <p:nvSpPr>
          <p:cNvPr id="210" name="Google Shape;210;p35"/>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tr">
                <a:solidFill>
                  <a:srgbClr val="000000"/>
                </a:solidFill>
                <a:latin typeface="Times New Roman"/>
                <a:ea typeface="Times New Roman"/>
                <a:cs typeface="Times New Roman"/>
                <a:sym typeface="Times New Roman"/>
              </a:rPr>
              <a:t>CNN-LSTM modeli, metin gibi sıralı verilerde hem içerik hem de bağlam ilişkisini aynı anda öğrenmeyi amaçlayan bir hibrit derin öğrenme modelidir.</a:t>
            </a:r>
            <a:endParaRPr>
              <a:solidFill>
                <a:srgbClr val="000000"/>
              </a:solidFill>
              <a:latin typeface="Times New Roman"/>
              <a:ea typeface="Times New Roman"/>
              <a:cs typeface="Times New Roman"/>
              <a:sym typeface="Times New Roman"/>
            </a:endParaRPr>
          </a:p>
          <a:p>
            <a:pPr indent="0" lvl="0" marL="0" rtl="0" algn="l">
              <a:spcBef>
                <a:spcPts val="1400"/>
              </a:spcBef>
              <a:spcAft>
                <a:spcPts val="0"/>
              </a:spcAft>
              <a:buNone/>
            </a:pPr>
            <a:r>
              <a:rPr lang="tr">
                <a:solidFill>
                  <a:srgbClr val="000000"/>
                </a:solidFill>
                <a:latin typeface="Times New Roman"/>
                <a:ea typeface="Times New Roman"/>
                <a:cs typeface="Times New Roman"/>
                <a:sym typeface="Times New Roman"/>
              </a:rPr>
              <a:t>Amaç:</a:t>
            </a:r>
            <a:endParaRPr>
              <a:solidFill>
                <a:srgbClr val="000000"/>
              </a:solidFill>
              <a:latin typeface="Times New Roman"/>
              <a:ea typeface="Times New Roman"/>
              <a:cs typeface="Times New Roman"/>
              <a:sym typeface="Times New Roman"/>
            </a:endParaRPr>
          </a:p>
          <a:p>
            <a:pPr indent="-342900" lvl="0" marL="457200" rtl="0" algn="l">
              <a:spcBef>
                <a:spcPts val="1200"/>
              </a:spcBef>
              <a:spcAft>
                <a:spcPts val="0"/>
              </a:spcAft>
              <a:buClr>
                <a:srgbClr val="000000"/>
              </a:buClr>
              <a:buSzPts val="1800"/>
              <a:buFont typeface="Arial"/>
              <a:buChar char="●"/>
            </a:pPr>
            <a:r>
              <a:rPr lang="tr">
                <a:solidFill>
                  <a:srgbClr val="000000"/>
                </a:solidFill>
                <a:latin typeface="Times New Roman"/>
                <a:ea typeface="Times New Roman"/>
                <a:cs typeface="Times New Roman"/>
                <a:sym typeface="Times New Roman"/>
              </a:rPr>
              <a:t>CNN ile metindeki önemli bölümleri (kalıplar, anahtar kelimeler, deyimler) yakalamak</a:t>
            </a:r>
            <a:br>
              <a:rPr lang="tr">
                <a:solidFill>
                  <a:srgbClr val="000000"/>
                </a:solidFill>
                <a:latin typeface="Times New Roman"/>
                <a:ea typeface="Times New Roman"/>
                <a:cs typeface="Times New Roman"/>
                <a:sym typeface="Times New Roman"/>
              </a:rPr>
            </a:br>
            <a:endParaRPr>
              <a:solidFill>
                <a:srgbClr val="000000"/>
              </a:solidFill>
              <a:latin typeface="Times New Roman"/>
              <a:ea typeface="Times New Roman"/>
              <a:cs typeface="Times New Roman"/>
              <a:sym typeface="Times New Roman"/>
            </a:endParaRPr>
          </a:p>
          <a:p>
            <a:pPr indent="-342900" lvl="0" marL="457200" rtl="0" algn="l">
              <a:spcBef>
                <a:spcPts val="0"/>
              </a:spcBef>
              <a:spcAft>
                <a:spcPts val="0"/>
              </a:spcAft>
              <a:buClr>
                <a:srgbClr val="000000"/>
              </a:buClr>
              <a:buSzPts val="1800"/>
              <a:buFont typeface="Arial"/>
              <a:buChar char="●"/>
            </a:pPr>
            <a:r>
              <a:rPr lang="tr">
                <a:solidFill>
                  <a:srgbClr val="000000"/>
                </a:solidFill>
                <a:latin typeface="Times New Roman"/>
                <a:ea typeface="Times New Roman"/>
                <a:cs typeface="Times New Roman"/>
                <a:sym typeface="Times New Roman"/>
              </a:rPr>
              <a:t>LSTM ile bu bilgilerin zaman sırasındaki ilişkisini anlamak</a:t>
            </a:r>
            <a:endParaRPr>
              <a:solidFill>
                <a:srgbClr val="000000"/>
              </a:solidFill>
              <a:latin typeface="Times New Roman"/>
              <a:ea typeface="Times New Roman"/>
              <a:cs typeface="Times New Roman"/>
              <a:sym typeface="Times New Roman"/>
            </a:endParaRPr>
          </a:p>
          <a:p>
            <a:pPr indent="0" lvl="0" marL="0" rtl="0" algn="l">
              <a:spcBef>
                <a:spcPts val="1200"/>
              </a:spcBef>
              <a:spcAft>
                <a:spcPts val="1200"/>
              </a:spcAft>
              <a:buNone/>
            </a:pPr>
            <a:r>
              <a:t/>
            </a:r>
            <a:endParaRPr>
              <a:latin typeface="Times New Roman"/>
              <a:ea typeface="Times New Roman"/>
              <a:cs typeface="Times New Roman"/>
              <a:sym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type="title"/>
          </p:nvPr>
        </p:nvSpPr>
        <p:spPr>
          <a:xfrm>
            <a:off x="147850" y="148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CNN-LSTM MODEL MİMARİSİ</a:t>
            </a:r>
            <a:endParaRPr/>
          </a:p>
        </p:txBody>
      </p:sp>
      <p:sp>
        <p:nvSpPr>
          <p:cNvPr id="216" name="Google Shape;216;p36"/>
          <p:cNvSpPr txBox="1"/>
          <p:nvPr>
            <p:ph idx="1" type="body"/>
          </p:nvPr>
        </p:nvSpPr>
        <p:spPr>
          <a:xfrm>
            <a:off x="39300" y="920400"/>
            <a:ext cx="5417700" cy="41907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tr" sz="1300">
                <a:solidFill>
                  <a:srgbClr val="1E1E1E"/>
                </a:solidFill>
                <a:latin typeface="Times New Roman"/>
                <a:ea typeface="Times New Roman"/>
                <a:cs typeface="Times New Roman"/>
                <a:sym typeface="Times New Roman"/>
              </a:rPr>
              <a:t>Bu model, metin verisi üzerindeki kısa kalıpları (n-gram gibi) algılamak için Convolutional (CNN) katmanları ve ardından sıralı ilişkileri öğrenmek için LSTM katmanını kullanır.</a:t>
            </a:r>
            <a:endParaRPr sz="1300">
              <a:solidFill>
                <a:srgbClr val="1E1E1E"/>
              </a:solidFill>
              <a:latin typeface="Times New Roman"/>
              <a:ea typeface="Times New Roman"/>
              <a:cs typeface="Times New Roman"/>
              <a:sym typeface="Times New Roman"/>
            </a:endParaRPr>
          </a:p>
          <a:p>
            <a:pPr indent="-311150" lvl="0" marL="457200" rtl="0" algn="l">
              <a:lnSpc>
                <a:spcPct val="105000"/>
              </a:lnSpc>
              <a:spcBef>
                <a:spcPts val="1200"/>
              </a:spcBef>
              <a:spcAft>
                <a:spcPts val="0"/>
              </a:spcAft>
              <a:buClr>
                <a:srgbClr val="1E1E1E"/>
              </a:buClr>
              <a:buSzPts val="1300"/>
              <a:buFont typeface="Times New Roman"/>
              <a:buChar char="●"/>
            </a:pPr>
            <a:r>
              <a:rPr lang="tr" sz="1300">
                <a:solidFill>
                  <a:srgbClr val="1E1E1E"/>
                </a:solidFill>
                <a:latin typeface="Times New Roman"/>
                <a:ea typeface="Times New Roman"/>
                <a:cs typeface="Times New Roman"/>
                <a:sym typeface="Times New Roman"/>
              </a:rPr>
              <a:t>Metin verisi, 128 boyutlu gömme (embedding) vektörlerine dönüştürülüyor. Ardından SpatialDropout1D, bazı vektörleri rastgele sıfırlayarak aşırı öğrenmeyi (overfitting) önlüyor.</a:t>
            </a:r>
            <a:endParaRPr sz="1300">
              <a:solidFill>
                <a:srgbClr val="1E1E1E"/>
              </a:solidFill>
              <a:latin typeface="Times New Roman"/>
              <a:ea typeface="Times New Roman"/>
              <a:cs typeface="Times New Roman"/>
              <a:sym typeface="Times New Roman"/>
            </a:endParaRPr>
          </a:p>
          <a:p>
            <a:pPr indent="-311150" lvl="0" marL="457200" rtl="0" algn="l">
              <a:lnSpc>
                <a:spcPct val="105000"/>
              </a:lnSpc>
              <a:spcBef>
                <a:spcPts val="0"/>
              </a:spcBef>
              <a:spcAft>
                <a:spcPts val="0"/>
              </a:spcAft>
              <a:buClr>
                <a:srgbClr val="1E1E1E"/>
              </a:buClr>
              <a:buSzPts val="1300"/>
              <a:buFont typeface="Times New Roman"/>
              <a:buChar char="●"/>
            </a:pPr>
            <a:r>
              <a:rPr lang="tr" sz="1300">
                <a:solidFill>
                  <a:srgbClr val="1E1E1E"/>
                </a:solidFill>
                <a:latin typeface="Times New Roman"/>
                <a:ea typeface="Times New Roman"/>
                <a:cs typeface="Times New Roman"/>
                <a:sym typeface="Times New Roman"/>
              </a:rPr>
              <a:t>Model, ardışık iki Conv1D katmanı ile kısa kelime gruplarını (örneğin “çok iyi”, “fazla pahalı”) yakalamaya çalışıyor.</a:t>
            </a:r>
            <a:endParaRPr sz="1300">
              <a:solidFill>
                <a:srgbClr val="1E1E1E"/>
              </a:solidFill>
              <a:latin typeface="Times New Roman"/>
              <a:ea typeface="Times New Roman"/>
              <a:cs typeface="Times New Roman"/>
              <a:sym typeface="Times New Roman"/>
            </a:endParaRPr>
          </a:p>
          <a:p>
            <a:pPr indent="-311150" lvl="1" marL="914400" rtl="0" algn="l">
              <a:lnSpc>
                <a:spcPct val="105000"/>
              </a:lnSpc>
              <a:spcBef>
                <a:spcPts val="0"/>
              </a:spcBef>
              <a:spcAft>
                <a:spcPts val="0"/>
              </a:spcAft>
              <a:buClr>
                <a:srgbClr val="1E1E1E"/>
              </a:buClr>
              <a:buSzPts val="1300"/>
              <a:buFont typeface="Times New Roman"/>
              <a:buChar char="○"/>
            </a:pPr>
            <a:r>
              <a:rPr lang="tr" sz="1300">
                <a:solidFill>
                  <a:srgbClr val="1E1E1E"/>
                </a:solidFill>
                <a:latin typeface="Times New Roman"/>
                <a:ea typeface="Times New Roman"/>
                <a:cs typeface="Times New Roman"/>
                <a:sym typeface="Times New Roman"/>
              </a:rPr>
              <a:t>kernel_size=2 → 2’li kelime örüntülerine odaklanır.</a:t>
            </a:r>
            <a:endParaRPr sz="1300">
              <a:solidFill>
                <a:srgbClr val="1E1E1E"/>
              </a:solidFill>
              <a:latin typeface="Times New Roman"/>
              <a:ea typeface="Times New Roman"/>
              <a:cs typeface="Times New Roman"/>
              <a:sym typeface="Times New Roman"/>
            </a:endParaRPr>
          </a:p>
          <a:p>
            <a:pPr indent="-311150" lvl="1" marL="914400" rtl="0" algn="l">
              <a:lnSpc>
                <a:spcPct val="105000"/>
              </a:lnSpc>
              <a:spcBef>
                <a:spcPts val="0"/>
              </a:spcBef>
              <a:spcAft>
                <a:spcPts val="0"/>
              </a:spcAft>
              <a:buClr>
                <a:srgbClr val="1E1E1E"/>
              </a:buClr>
              <a:buSzPts val="1300"/>
              <a:buFont typeface="Times New Roman"/>
              <a:buChar char="○"/>
            </a:pPr>
            <a:r>
              <a:rPr lang="tr" sz="1300">
                <a:solidFill>
                  <a:srgbClr val="1E1E1E"/>
                </a:solidFill>
                <a:latin typeface="Times New Roman"/>
                <a:ea typeface="Times New Roman"/>
                <a:cs typeface="Times New Roman"/>
                <a:sym typeface="Times New Roman"/>
              </a:rPr>
              <a:t>padding="same" → Çıktı boyutu girişle aynı kalır, veri kaybı olmaz.</a:t>
            </a:r>
            <a:endParaRPr sz="1300">
              <a:solidFill>
                <a:srgbClr val="1E1E1E"/>
              </a:solidFill>
              <a:latin typeface="Times New Roman"/>
              <a:ea typeface="Times New Roman"/>
              <a:cs typeface="Times New Roman"/>
              <a:sym typeface="Times New Roman"/>
            </a:endParaRPr>
          </a:p>
          <a:p>
            <a:pPr indent="-311150" lvl="0" marL="457200" rtl="0" algn="l">
              <a:lnSpc>
                <a:spcPct val="105000"/>
              </a:lnSpc>
              <a:spcBef>
                <a:spcPts val="0"/>
              </a:spcBef>
              <a:spcAft>
                <a:spcPts val="0"/>
              </a:spcAft>
              <a:buClr>
                <a:srgbClr val="1E1E1E"/>
              </a:buClr>
              <a:buSzPts val="1300"/>
              <a:buFont typeface="Times New Roman"/>
              <a:buChar char="●"/>
            </a:pPr>
            <a:r>
              <a:rPr lang="tr" sz="1300">
                <a:solidFill>
                  <a:srgbClr val="1E1E1E"/>
                </a:solidFill>
                <a:latin typeface="Times New Roman"/>
                <a:ea typeface="Times New Roman"/>
                <a:cs typeface="Times New Roman"/>
                <a:sym typeface="Times New Roman"/>
              </a:rPr>
              <a:t>CNN tarafından çıkarılan özniteliklerin zaman ilişkisini öğrenir. 64 hücreli tek bir LSTM katmanı ile cümle bağlamı çıkarılır. dropout=0.3, recurrent_dropout=0.2 ile aşırı öğrenme önlenir.</a:t>
            </a:r>
            <a:endParaRPr sz="1300">
              <a:solidFill>
                <a:srgbClr val="1E1E1E"/>
              </a:solidFill>
              <a:latin typeface="Times New Roman"/>
              <a:ea typeface="Times New Roman"/>
              <a:cs typeface="Times New Roman"/>
              <a:sym typeface="Times New Roman"/>
            </a:endParaRPr>
          </a:p>
          <a:p>
            <a:pPr indent="-311150" lvl="0" marL="457200" rtl="0" algn="l">
              <a:lnSpc>
                <a:spcPct val="105000"/>
              </a:lnSpc>
              <a:spcBef>
                <a:spcPts val="0"/>
              </a:spcBef>
              <a:spcAft>
                <a:spcPts val="0"/>
              </a:spcAft>
              <a:buClr>
                <a:srgbClr val="1E1E1E"/>
              </a:buClr>
              <a:buSzPts val="1300"/>
              <a:buFont typeface="Times New Roman"/>
              <a:buChar char="●"/>
            </a:pPr>
            <a:r>
              <a:rPr lang="tr" sz="1300">
                <a:solidFill>
                  <a:srgbClr val="1E1E1E"/>
                </a:solidFill>
                <a:latin typeface="Times New Roman"/>
                <a:ea typeface="Times New Roman"/>
                <a:cs typeface="Times New Roman"/>
                <a:sym typeface="Times New Roman"/>
              </a:rPr>
              <a:t>64 nöronlu Dense katmanı, LSTM çıktısını işleyerek sınıflandırma için hazır hale getiriyor. </a:t>
            </a:r>
            <a:r>
              <a:rPr lang="tr" sz="1300">
                <a:solidFill>
                  <a:srgbClr val="1E1E1E"/>
                </a:solidFill>
                <a:latin typeface="Times New Roman"/>
                <a:ea typeface="Times New Roman"/>
                <a:cs typeface="Times New Roman"/>
                <a:sym typeface="Times New Roman"/>
              </a:rPr>
              <a:t>Aktivasyon olarak LeakyReLU kullanıldı. </a:t>
            </a:r>
            <a:r>
              <a:rPr lang="tr" sz="1300">
                <a:solidFill>
                  <a:srgbClr val="1E1E1E"/>
                </a:solidFill>
                <a:latin typeface="Times New Roman"/>
                <a:ea typeface="Times New Roman"/>
                <a:cs typeface="Times New Roman"/>
                <a:sym typeface="Times New Roman"/>
              </a:rPr>
              <a:t>BatchNormalization ile modelin kararlı öğrenmesi sağlanıyor.</a:t>
            </a:r>
            <a:endParaRPr sz="1300">
              <a:solidFill>
                <a:srgbClr val="1E1E1E"/>
              </a:solidFill>
              <a:latin typeface="Times New Roman"/>
              <a:ea typeface="Times New Roman"/>
              <a:cs typeface="Times New Roman"/>
              <a:sym typeface="Times New Roman"/>
            </a:endParaRPr>
          </a:p>
          <a:p>
            <a:pPr indent="-311150" lvl="0" marL="457200" rtl="0" algn="l">
              <a:lnSpc>
                <a:spcPct val="105000"/>
              </a:lnSpc>
              <a:spcBef>
                <a:spcPts val="0"/>
              </a:spcBef>
              <a:spcAft>
                <a:spcPts val="0"/>
              </a:spcAft>
              <a:buClr>
                <a:srgbClr val="1E1E1E"/>
              </a:buClr>
              <a:buSzPts val="1300"/>
              <a:buFont typeface="Times New Roman"/>
              <a:buChar char="●"/>
            </a:pPr>
            <a:r>
              <a:rPr lang="tr" sz="1300">
                <a:solidFill>
                  <a:srgbClr val="1E1E1E"/>
                </a:solidFill>
                <a:latin typeface="Times New Roman"/>
                <a:ea typeface="Times New Roman"/>
                <a:cs typeface="Times New Roman"/>
                <a:sym typeface="Times New Roman"/>
              </a:rPr>
              <a:t>Modelin her sınıfa ait olasılığını veren softmax aktivasyonu tanımlandı.</a:t>
            </a:r>
            <a:endParaRPr sz="1300">
              <a:solidFill>
                <a:srgbClr val="1E1E1E"/>
              </a:solidFill>
              <a:latin typeface="Times New Roman"/>
              <a:ea typeface="Times New Roman"/>
              <a:cs typeface="Times New Roman"/>
              <a:sym typeface="Times New Roman"/>
            </a:endParaRPr>
          </a:p>
          <a:p>
            <a:pPr indent="0" lvl="0" marL="457200" rtl="0" algn="l">
              <a:lnSpc>
                <a:spcPct val="105000"/>
              </a:lnSpc>
              <a:spcBef>
                <a:spcPts val="1200"/>
              </a:spcBef>
              <a:spcAft>
                <a:spcPts val="1200"/>
              </a:spcAft>
              <a:buNone/>
            </a:pPr>
            <a:r>
              <a:t/>
            </a:r>
            <a:endParaRPr sz="1300">
              <a:solidFill>
                <a:srgbClr val="1E1E1E"/>
              </a:solidFill>
              <a:latin typeface="Times New Roman"/>
              <a:ea typeface="Times New Roman"/>
              <a:cs typeface="Times New Roman"/>
              <a:sym typeface="Times New Roman"/>
            </a:endParaRPr>
          </a:p>
        </p:txBody>
      </p:sp>
      <p:sp>
        <p:nvSpPr>
          <p:cNvPr id="217" name="Google Shape;217;p36"/>
          <p:cNvSpPr txBox="1"/>
          <p:nvPr/>
        </p:nvSpPr>
        <p:spPr>
          <a:xfrm>
            <a:off x="5456850" y="920400"/>
            <a:ext cx="3687300" cy="46293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model = Sequential([</a:t>
            </a:r>
            <a:endParaRPr sz="105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Embedding(input_dim=MAX_VOCAB, output_dim=128, input_length=MAX_LEN, mask_zero=False),</a:t>
            </a:r>
            <a:endParaRPr sz="105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SpatialDropout1D(0.15),</a:t>
            </a:r>
            <a:endParaRPr sz="105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Conv1D(filters=64, kernel_size=2, activation="relu", padding="same"),</a:t>
            </a:r>
            <a:endParaRPr sz="105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Conv1D(filters=64, kernel_size=2, activation="relu", padding="same"), LSTM(64, dropout=0.3, recurrent_dropout=0.2),</a:t>
            </a:r>
            <a:endParaRPr sz="105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Dropout(0.3),</a:t>
            </a:r>
            <a:endParaRPr sz="105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Dense(64),</a:t>
            </a:r>
            <a:endParaRPr sz="105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LeakyReLU(alpha=0.1),</a:t>
            </a:r>
            <a:endParaRPr sz="105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BatchNormalization(),</a:t>
            </a:r>
            <a:endParaRPr sz="105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Dropout(0.25),</a:t>
            </a:r>
            <a:endParaRPr sz="105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    Dense(len(classes), activation="softmax")</a:t>
            </a:r>
            <a:endParaRPr sz="1050">
              <a:solidFill>
                <a:srgbClr val="0000FF"/>
              </a:solidFill>
              <a:highlight>
                <a:schemeClr val="lt1"/>
              </a:highlight>
              <a:latin typeface="Courier New"/>
              <a:ea typeface="Courier New"/>
              <a:cs typeface="Courier New"/>
              <a:sym typeface="Courier New"/>
            </a:endParaRPr>
          </a:p>
          <a:p>
            <a:pPr indent="0" lvl="0" marL="0" rtl="0" algn="l">
              <a:lnSpc>
                <a:spcPct val="135714"/>
              </a:lnSpc>
              <a:spcBef>
                <a:spcPts val="0"/>
              </a:spcBef>
              <a:spcAft>
                <a:spcPts val="0"/>
              </a:spcAft>
              <a:buNone/>
            </a:pPr>
            <a:r>
              <a:rPr lang="tr" sz="1050">
                <a:solidFill>
                  <a:srgbClr val="0000FF"/>
                </a:solidFill>
                <a:highlight>
                  <a:schemeClr val="lt1"/>
                </a:highlight>
                <a:latin typeface="Courier New"/>
                <a:ea typeface="Courier New"/>
                <a:cs typeface="Courier New"/>
                <a:sym typeface="Courier New"/>
              </a:rPr>
              <a:t>])</a:t>
            </a:r>
            <a:endParaRPr sz="1050">
              <a:solidFill>
                <a:srgbClr val="0000FF"/>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t/>
            </a:r>
            <a:endParaRPr sz="1800">
              <a:solidFill>
                <a:srgbClr val="0000FF"/>
              </a:solidFill>
              <a:highlight>
                <a:schemeClr val="lt1"/>
              </a:highlight>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CNN-LSTM MODELİ EĞİTİM AŞAMASI</a:t>
            </a:r>
            <a:endParaRPr/>
          </a:p>
        </p:txBody>
      </p:sp>
      <p:sp>
        <p:nvSpPr>
          <p:cNvPr id="223" name="Google Shape;223;p3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tr">
                <a:solidFill>
                  <a:srgbClr val="1E1E1E"/>
                </a:solidFill>
                <a:latin typeface="Times New Roman"/>
                <a:ea typeface="Times New Roman"/>
                <a:cs typeface="Times New Roman"/>
                <a:sym typeface="Times New Roman"/>
              </a:rPr>
              <a:t>Model, 30 epoch boyunca X_train_pad verisiyle eğitildi. Her epoch sonunda X_val_pad ile doğrulama yapıldı.</a:t>
            </a:r>
            <a:endParaRPr>
              <a:solidFill>
                <a:srgbClr val="1E1E1E"/>
              </a:solidFill>
              <a:latin typeface="Times New Roman"/>
              <a:ea typeface="Times New Roman"/>
              <a:cs typeface="Times New Roman"/>
              <a:sym typeface="Times New Roman"/>
            </a:endParaRPr>
          </a:p>
          <a:p>
            <a:pPr indent="0" lvl="0" marL="0" rtl="0" algn="l">
              <a:spcBef>
                <a:spcPts val="1200"/>
              </a:spcBef>
              <a:spcAft>
                <a:spcPts val="0"/>
              </a:spcAft>
              <a:buNone/>
            </a:pPr>
            <a:r>
              <a:rPr lang="tr">
                <a:solidFill>
                  <a:srgbClr val="1E1E1E"/>
                </a:solidFill>
                <a:latin typeface="Times New Roman"/>
                <a:ea typeface="Times New Roman"/>
                <a:cs typeface="Times New Roman"/>
                <a:sym typeface="Times New Roman"/>
              </a:rPr>
              <a:t>EarlyStopping ile en iyi sonuçta durduruldu, ReduceLROnPlateau ile öğrenme hızı gerektiğinde azaltıldı.</a:t>
            </a:r>
            <a:endParaRPr>
              <a:solidFill>
                <a:srgbClr val="1E1E1E"/>
              </a:solidFill>
              <a:latin typeface="Times New Roman"/>
              <a:ea typeface="Times New Roman"/>
              <a:cs typeface="Times New Roman"/>
              <a:sym typeface="Times New Roman"/>
            </a:endParaRPr>
          </a:p>
          <a:p>
            <a:pPr indent="0" lvl="0" marL="0" rtl="0" algn="l">
              <a:spcBef>
                <a:spcPts val="1200"/>
              </a:spcBef>
              <a:spcAft>
                <a:spcPts val="0"/>
              </a:spcAft>
              <a:buNone/>
            </a:pPr>
            <a:r>
              <a:rPr lang="tr">
                <a:solidFill>
                  <a:srgbClr val="1E1E1E"/>
                </a:solidFill>
                <a:latin typeface="Times New Roman"/>
                <a:ea typeface="Times New Roman"/>
                <a:cs typeface="Times New Roman"/>
                <a:sym typeface="Times New Roman"/>
              </a:rPr>
              <a:t>Batch_size=128 ile her adımda 128 örnek kullanılarak ağırlıklar güncellendi.</a:t>
            </a:r>
            <a:endParaRPr>
              <a:solidFill>
                <a:srgbClr val="1E1E1E"/>
              </a:solidFill>
              <a:latin typeface="Times New Roman"/>
              <a:ea typeface="Times New Roman"/>
              <a:cs typeface="Times New Roman"/>
              <a:sym typeface="Times New Roman"/>
            </a:endParaRPr>
          </a:p>
          <a:p>
            <a:pPr indent="0" lvl="0" marL="457200" rtl="0" algn="l">
              <a:lnSpc>
                <a:spcPct val="135714"/>
              </a:lnSpc>
              <a:spcBef>
                <a:spcPts val="1200"/>
              </a:spcBef>
              <a:spcAft>
                <a:spcPts val="0"/>
              </a:spcAft>
              <a:buNone/>
            </a:pPr>
            <a:r>
              <a:rPr lang="tr" sz="1531">
                <a:solidFill>
                  <a:srgbClr val="0000FF"/>
                </a:solidFill>
                <a:highlight>
                  <a:schemeClr val="lt1"/>
                </a:highlight>
                <a:latin typeface="Courier New"/>
                <a:ea typeface="Courier New"/>
                <a:cs typeface="Courier New"/>
                <a:sym typeface="Courier New"/>
              </a:rPr>
              <a:t>history = model.fit(</a:t>
            </a:r>
            <a:endParaRPr sz="1531">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531">
                <a:solidFill>
                  <a:srgbClr val="0000FF"/>
                </a:solidFill>
                <a:highlight>
                  <a:schemeClr val="lt1"/>
                </a:highlight>
                <a:latin typeface="Courier New"/>
                <a:ea typeface="Courier New"/>
                <a:cs typeface="Courier New"/>
                <a:sym typeface="Courier New"/>
              </a:rPr>
              <a:t>    X_train_pad, y_train_cat,</a:t>
            </a:r>
            <a:endParaRPr sz="1531">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531">
                <a:solidFill>
                  <a:srgbClr val="0000FF"/>
                </a:solidFill>
                <a:highlight>
                  <a:schemeClr val="lt1"/>
                </a:highlight>
                <a:latin typeface="Courier New"/>
                <a:ea typeface="Courier New"/>
                <a:cs typeface="Courier New"/>
                <a:sym typeface="Courier New"/>
              </a:rPr>
              <a:t>    validation_data=(X_val_pad, y_val_cat),</a:t>
            </a:r>
            <a:endParaRPr sz="1531">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531">
                <a:solidFill>
                  <a:srgbClr val="0000FF"/>
                </a:solidFill>
                <a:highlight>
                  <a:schemeClr val="lt1"/>
                </a:highlight>
                <a:latin typeface="Courier New"/>
                <a:ea typeface="Courier New"/>
                <a:cs typeface="Courier New"/>
                <a:sym typeface="Courier New"/>
              </a:rPr>
              <a:t>    epochs=30,</a:t>
            </a:r>
            <a:endParaRPr sz="1531">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531">
                <a:solidFill>
                  <a:srgbClr val="0000FF"/>
                </a:solidFill>
                <a:highlight>
                  <a:schemeClr val="lt1"/>
                </a:highlight>
                <a:latin typeface="Courier New"/>
                <a:ea typeface="Courier New"/>
                <a:cs typeface="Courier New"/>
                <a:sym typeface="Courier New"/>
              </a:rPr>
              <a:t>    batch_size=128,</a:t>
            </a:r>
            <a:endParaRPr sz="1531">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531">
                <a:solidFill>
                  <a:srgbClr val="0000FF"/>
                </a:solidFill>
                <a:highlight>
                  <a:schemeClr val="lt1"/>
                </a:highlight>
                <a:latin typeface="Courier New"/>
                <a:ea typeface="Courier New"/>
                <a:cs typeface="Courier New"/>
                <a:sym typeface="Courier New"/>
              </a:rPr>
              <a:t>    callbacks=cb,</a:t>
            </a:r>
            <a:endParaRPr sz="1531">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531">
                <a:solidFill>
                  <a:srgbClr val="0000FF"/>
                </a:solidFill>
                <a:highlight>
                  <a:schemeClr val="lt1"/>
                </a:highlight>
                <a:latin typeface="Courier New"/>
                <a:ea typeface="Courier New"/>
                <a:cs typeface="Courier New"/>
                <a:sym typeface="Courier New"/>
              </a:rPr>
              <a:t>    verbose=1</a:t>
            </a:r>
            <a:endParaRPr sz="1531">
              <a:solidFill>
                <a:srgbClr val="0000FF"/>
              </a:solidFill>
              <a:highlight>
                <a:schemeClr val="lt1"/>
              </a:highlight>
              <a:latin typeface="Courier New"/>
              <a:ea typeface="Courier New"/>
              <a:cs typeface="Courier New"/>
              <a:sym typeface="Courier New"/>
            </a:endParaRPr>
          </a:p>
          <a:p>
            <a:pPr indent="0" lvl="0" marL="457200" rtl="0" algn="l">
              <a:lnSpc>
                <a:spcPct val="135714"/>
              </a:lnSpc>
              <a:spcBef>
                <a:spcPts val="0"/>
              </a:spcBef>
              <a:spcAft>
                <a:spcPts val="0"/>
              </a:spcAft>
              <a:buNone/>
            </a:pPr>
            <a:r>
              <a:rPr lang="tr" sz="1531">
                <a:solidFill>
                  <a:srgbClr val="0000FF"/>
                </a:solidFill>
                <a:highlight>
                  <a:schemeClr val="lt1"/>
                </a:highlight>
                <a:latin typeface="Courier New"/>
                <a:ea typeface="Courier New"/>
                <a:cs typeface="Courier New"/>
                <a:sym typeface="Courier New"/>
              </a:rPr>
              <a:t>)</a:t>
            </a:r>
            <a:endParaRPr sz="1531">
              <a:solidFill>
                <a:srgbClr val="0000FF"/>
              </a:solidFill>
              <a:highlight>
                <a:schemeClr val="lt1"/>
              </a:highlight>
              <a:latin typeface="Courier New"/>
              <a:ea typeface="Courier New"/>
              <a:cs typeface="Courier New"/>
              <a:sym typeface="Courier New"/>
            </a:endParaRPr>
          </a:p>
          <a:p>
            <a:pPr indent="0" lvl="0" marL="0" rtl="0" algn="l">
              <a:spcBef>
                <a:spcPts val="0"/>
              </a:spcBef>
              <a:spcAft>
                <a:spcPts val="1200"/>
              </a:spcAft>
              <a:buNone/>
            </a:pPr>
            <a:r>
              <a:t/>
            </a:r>
            <a:endParaRPr sz="1100">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CNN-LSTM MODELİ PERFORMANSI</a:t>
            </a:r>
            <a:endParaRPr/>
          </a:p>
        </p:txBody>
      </p:sp>
      <p:sp>
        <p:nvSpPr>
          <p:cNvPr id="229" name="Google Shape;229;p38"/>
          <p:cNvSpPr txBox="1"/>
          <p:nvPr>
            <p:ph idx="1" type="body"/>
          </p:nvPr>
        </p:nvSpPr>
        <p:spPr>
          <a:xfrm>
            <a:off x="0" y="1050000"/>
            <a:ext cx="4626900" cy="3796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tr" sz="1400">
                <a:solidFill>
                  <a:srgbClr val="1E1E1E"/>
                </a:solidFill>
                <a:latin typeface="Times New Roman"/>
                <a:ea typeface="Times New Roman"/>
                <a:cs typeface="Times New Roman"/>
                <a:sym typeface="Times New Roman"/>
              </a:rPr>
              <a:t>Model eğitildikten sonra test verisi üzerinde değerlendirme yapılmıştır. Aşağıda sınıf bazlı sonuçlar yer alıyor:</a:t>
            </a:r>
            <a:endParaRPr sz="1400">
              <a:solidFill>
                <a:srgbClr val="1E1E1E"/>
              </a:solidFill>
              <a:latin typeface="Times New Roman"/>
              <a:ea typeface="Times New Roman"/>
              <a:cs typeface="Times New Roman"/>
              <a:sym typeface="Times New Roman"/>
            </a:endParaRPr>
          </a:p>
          <a:p>
            <a:pPr indent="457200" lvl="0" marL="914400" rtl="0" algn="l">
              <a:spcBef>
                <a:spcPts val="1200"/>
              </a:spcBef>
              <a:spcAft>
                <a:spcPts val="0"/>
              </a:spcAft>
              <a:buNone/>
            </a:pPr>
            <a:r>
              <a:rPr lang="tr" sz="1050">
                <a:solidFill>
                  <a:srgbClr val="4A86E8"/>
                </a:solidFill>
                <a:latin typeface="Courier New"/>
                <a:ea typeface="Courier New"/>
                <a:cs typeface="Courier New"/>
                <a:sym typeface="Courier New"/>
              </a:rPr>
              <a:t>precision   recall  f1-score   support</a:t>
            </a:r>
            <a:endParaRPr sz="1050">
              <a:solidFill>
                <a:srgbClr val="4A86E8"/>
              </a:solidFill>
              <a:latin typeface="Courier New"/>
              <a:ea typeface="Courier New"/>
              <a:cs typeface="Courier New"/>
              <a:sym typeface="Courier New"/>
            </a:endParaRPr>
          </a:p>
          <a:p>
            <a:pPr indent="0" lvl="0" marL="0" rtl="0" algn="l">
              <a:spcBef>
                <a:spcPts val="1200"/>
              </a:spcBef>
              <a:spcAft>
                <a:spcPts val="0"/>
              </a:spcAft>
              <a:buNone/>
            </a:pPr>
            <a:r>
              <a:rPr lang="tr" sz="1050">
                <a:solidFill>
                  <a:srgbClr val="4A86E8"/>
                </a:solidFill>
                <a:latin typeface="Courier New"/>
                <a:ea typeface="Courier New"/>
                <a:cs typeface="Courier New"/>
                <a:sym typeface="Courier New"/>
              </a:rPr>
              <a:t>     negatif       0.55      0.69      0.61      2000</a:t>
            </a:r>
            <a:endParaRPr sz="1050">
              <a:solidFill>
                <a:srgbClr val="4A86E8"/>
              </a:solidFill>
              <a:latin typeface="Courier New"/>
              <a:ea typeface="Courier New"/>
              <a:cs typeface="Courier New"/>
              <a:sym typeface="Courier New"/>
            </a:endParaRPr>
          </a:p>
          <a:p>
            <a:pPr indent="0" lvl="0" marL="0" rtl="0" algn="l">
              <a:spcBef>
                <a:spcPts val="1200"/>
              </a:spcBef>
              <a:spcAft>
                <a:spcPts val="0"/>
              </a:spcAft>
              <a:buNone/>
            </a:pPr>
            <a:r>
              <a:rPr lang="tr" sz="1050">
                <a:solidFill>
                  <a:srgbClr val="4A86E8"/>
                </a:solidFill>
                <a:latin typeface="Courier New"/>
                <a:ea typeface="Courier New"/>
                <a:cs typeface="Courier New"/>
                <a:sym typeface="Courier New"/>
              </a:rPr>
              <a:t>        notr       0.75      0.58      0.65      2000</a:t>
            </a:r>
            <a:endParaRPr sz="1050">
              <a:solidFill>
                <a:srgbClr val="4A86E8"/>
              </a:solidFill>
              <a:latin typeface="Courier New"/>
              <a:ea typeface="Courier New"/>
              <a:cs typeface="Courier New"/>
              <a:sym typeface="Courier New"/>
            </a:endParaRPr>
          </a:p>
          <a:p>
            <a:pPr indent="0" lvl="0" marL="0" rtl="0" algn="l">
              <a:spcBef>
                <a:spcPts val="1200"/>
              </a:spcBef>
              <a:spcAft>
                <a:spcPts val="0"/>
              </a:spcAft>
              <a:buNone/>
            </a:pPr>
            <a:r>
              <a:rPr lang="tr" sz="1050">
                <a:solidFill>
                  <a:srgbClr val="4A86E8"/>
                </a:solidFill>
                <a:latin typeface="Courier New"/>
                <a:ea typeface="Courier New"/>
                <a:cs typeface="Courier New"/>
                <a:sym typeface="Courier New"/>
              </a:rPr>
              <a:t>     pozitif       0.79      0.78      0.79      2000</a:t>
            </a:r>
            <a:endParaRPr sz="1050">
              <a:solidFill>
                <a:srgbClr val="4A86E8"/>
              </a:solidFill>
              <a:latin typeface="Courier New"/>
              <a:ea typeface="Courier New"/>
              <a:cs typeface="Courier New"/>
              <a:sym typeface="Courier New"/>
            </a:endParaRPr>
          </a:p>
          <a:p>
            <a:pPr indent="0" lvl="0" marL="0" rtl="0" algn="l">
              <a:spcBef>
                <a:spcPts val="1200"/>
              </a:spcBef>
              <a:spcAft>
                <a:spcPts val="0"/>
              </a:spcAft>
              <a:buNone/>
            </a:pPr>
            <a:r>
              <a:rPr lang="tr" sz="1050">
                <a:solidFill>
                  <a:srgbClr val="4A86E8"/>
                </a:solidFill>
                <a:latin typeface="Courier New"/>
                <a:ea typeface="Courier New"/>
                <a:cs typeface="Courier New"/>
                <a:sym typeface="Courier New"/>
              </a:rPr>
              <a:t>    accuracy                           0.68      6000</a:t>
            </a:r>
            <a:endParaRPr sz="1050">
              <a:solidFill>
                <a:srgbClr val="4A86E8"/>
              </a:solidFill>
              <a:latin typeface="Courier New"/>
              <a:ea typeface="Courier New"/>
              <a:cs typeface="Courier New"/>
              <a:sym typeface="Courier New"/>
            </a:endParaRPr>
          </a:p>
          <a:p>
            <a:pPr indent="0" lvl="0" marL="0" rtl="0" algn="l">
              <a:spcBef>
                <a:spcPts val="1200"/>
              </a:spcBef>
              <a:spcAft>
                <a:spcPts val="0"/>
              </a:spcAft>
              <a:buNone/>
            </a:pPr>
            <a:r>
              <a:rPr lang="tr" sz="1050">
                <a:solidFill>
                  <a:srgbClr val="4A86E8"/>
                </a:solidFill>
                <a:latin typeface="Courier New"/>
                <a:ea typeface="Courier New"/>
                <a:cs typeface="Courier New"/>
                <a:sym typeface="Courier New"/>
              </a:rPr>
              <a:t>   macro avg       0.70      0.68      0.69      6000</a:t>
            </a:r>
            <a:endParaRPr sz="1050">
              <a:solidFill>
                <a:srgbClr val="4A86E8"/>
              </a:solidFill>
              <a:latin typeface="Courier New"/>
              <a:ea typeface="Courier New"/>
              <a:cs typeface="Courier New"/>
              <a:sym typeface="Courier New"/>
            </a:endParaRPr>
          </a:p>
          <a:p>
            <a:pPr indent="0" lvl="0" marL="0" rtl="0" algn="l">
              <a:spcBef>
                <a:spcPts val="1200"/>
              </a:spcBef>
              <a:spcAft>
                <a:spcPts val="1200"/>
              </a:spcAft>
              <a:buNone/>
            </a:pPr>
            <a:r>
              <a:rPr lang="tr" sz="1050">
                <a:solidFill>
                  <a:srgbClr val="4A86E8"/>
                </a:solidFill>
                <a:latin typeface="Courier New"/>
                <a:ea typeface="Courier New"/>
                <a:cs typeface="Courier New"/>
                <a:sym typeface="Courier New"/>
              </a:rPr>
              <a:t>weighted avg       0.70      0.68      0.69      6000</a:t>
            </a:r>
            <a:endParaRPr sz="1100">
              <a:solidFill>
                <a:srgbClr val="4A86E8"/>
              </a:solidFill>
              <a:latin typeface="Arial"/>
              <a:ea typeface="Arial"/>
              <a:cs typeface="Arial"/>
              <a:sym typeface="Arial"/>
            </a:endParaRPr>
          </a:p>
        </p:txBody>
      </p:sp>
      <p:sp>
        <p:nvSpPr>
          <p:cNvPr id="230" name="Google Shape;230;p38"/>
          <p:cNvSpPr txBox="1"/>
          <p:nvPr/>
        </p:nvSpPr>
        <p:spPr>
          <a:xfrm>
            <a:off x="4856725" y="1050000"/>
            <a:ext cx="4287000" cy="4068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tr" sz="1300">
                <a:solidFill>
                  <a:srgbClr val="CC4125"/>
                </a:solidFill>
                <a:latin typeface="Times New Roman"/>
                <a:ea typeface="Times New Roman"/>
                <a:cs typeface="Times New Roman"/>
                <a:sym typeface="Times New Roman"/>
              </a:rPr>
              <a:t>Model test verisi üzerinde %68 doğruluk (accuracy) elde etmiştir. Sınıf bazlı başarılar incelendiğinde; </a:t>
            </a:r>
            <a:r>
              <a:rPr b="1" lang="tr" sz="1300">
                <a:solidFill>
                  <a:srgbClr val="CC4125"/>
                </a:solidFill>
                <a:latin typeface="Times New Roman"/>
                <a:ea typeface="Times New Roman"/>
                <a:cs typeface="Times New Roman"/>
                <a:sym typeface="Times New Roman"/>
              </a:rPr>
              <a:t>pozitif sınıf</a:t>
            </a:r>
            <a:r>
              <a:rPr lang="tr" sz="1300">
                <a:solidFill>
                  <a:srgbClr val="CC4125"/>
                </a:solidFill>
                <a:latin typeface="Times New Roman"/>
                <a:ea typeface="Times New Roman"/>
                <a:cs typeface="Times New Roman"/>
                <a:sym typeface="Times New Roman"/>
              </a:rPr>
              <a:t> en iyi sonucu vermiştir (F1 = </a:t>
            </a:r>
            <a:r>
              <a:rPr b="1" lang="tr" sz="1300">
                <a:solidFill>
                  <a:srgbClr val="CC4125"/>
                </a:solidFill>
                <a:latin typeface="Times New Roman"/>
                <a:ea typeface="Times New Roman"/>
                <a:cs typeface="Times New Roman"/>
                <a:sym typeface="Times New Roman"/>
              </a:rPr>
              <a:t>0.79</a:t>
            </a:r>
            <a:r>
              <a:rPr lang="tr" sz="1300">
                <a:solidFill>
                  <a:srgbClr val="CC4125"/>
                </a:solidFill>
                <a:latin typeface="Times New Roman"/>
                <a:ea typeface="Times New Roman"/>
                <a:cs typeface="Times New Roman"/>
                <a:sym typeface="Times New Roman"/>
              </a:rPr>
              <a:t>), bu da modelin olumlu yorumları yüksek doğrulukla tanıdığını gösterir. </a:t>
            </a:r>
            <a:r>
              <a:rPr b="1" lang="tr" sz="1300">
                <a:solidFill>
                  <a:srgbClr val="CC4125"/>
                </a:solidFill>
                <a:latin typeface="Times New Roman"/>
                <a:ea typeface="Times New Roman"/>
                <a:cs typeface="Times New Roman"/>
                <a:sym typeface="Times New Roman"/>
              </a:rPr>
              <a:t>Nötr sınıfta</a:t>
            </a:r>
            <a:r>
              <a:rPr lang="tr" sz="1300">
                <a:solidFill>
                  <a:srgbClr val="CC4125"/>
                </a:solidFill>
                <a:latin typeface="Times New Roman"/>
                <a:ea typeface="Times New Roman"/>
                <a:cs typeface="Times New Roman"/>
                <a:sym typeface="Times New Roman"/>
              </a:rPr>
              <a:t> recall değeri düşük kalmıştır (</a:t>
            </a:r>
            <a:r>
              <a:rPr b="1" lang="tr" sz="1300">
                <a:solidFill>
                  <a:srgbClr val="CC4125"/>
                </a:solidFill>
                <a:latin typeface="Times New Roman"/>
                <a:ea typeface="Times New Roman"/>
                <a:cs typeface="Times New Roman"/>
                <a:sym typeface="Times New Roman"/>
              </a:rPr>
              <a:t>0.58</a:t>
            </a:r>
            <a:r>
              <a:rPr lang="tr" sz="1300">
                <a:solidFill>
                  <a:srgbClr val="CC4125"/>
                </a:solidFill>
                <a:latin typeface="Times New Roman"/>
                <a:ea typeface="Times New Roman"/>
                <a:cs typeface="Times New Roman"/>
                <a:sym typeface="Times New Roman"/>
              </a:rPr>
              <a:t>), model kararsız yorumları tanımakta zorlanmıştır. </a:t>
            </a:r>
            <a:r>
              <a:rPr b="1" lang="tr" sz="1300">
                <a:solidFill>
                  <a:srgbClr val="CC4125"/>
                </a:solidFill>
                <a:latin typeface="Times New Roman"/>
                <a:ea typeface="Times New Roman"/>
                <a:cs typeface="Times New Roman"/>
                <a:sym typeface="Times New Roman"/>
              </a:rPr>
              <a:t>Negatif sınıf</a:t>
            </a:r>
            <a:r>
              <a:rPr lang="tr" sz="1300">
                <a:solidFill>
                  <a:srgbClr val="CC4125"/>
                </a:solidFill>
                <a:latin typeface="Times New Roman"/>
                <a:ea typeface="Times New Roman"/>
                <a:cs typeface="Times New Roman"/>
                <a:sym typeface="Times New Roman"/>
              </a:rPr>
              <a:t> için F1 skoru </a:t>
            </a:r>
            <a:r>
              <a:rPr b="1" lang="tr" sz="1300">
                <a:solidFill>
                  <a:srgbClr val="CC4125"/>
                </a:solidFill>
                <a:latin typeface="Times New Roman"/>
                <a:ea typeface="Times New Roman"/>
                <a:cs typeface="Times New Roman"/>
                <a:sym typeface="Times New Roman"/>
              </a:rPr>
              <a:t>0.61</a:t>
            </a:r>
            <a:r>
              <a:rPr lang="tr" sz="1300">
                <a:solidFill>
                  <a:srgbClr val="CC4125"/>
                </a:solidFill>
                <a:latin typeface="Times New Roman"/>
                <a:ea typeface="Times New Roman"/>
                <a:cs typeface="Times New Roman"/>
                <a:sym typeface="Times New Roman"/>
              </a:rPr>
              <a:t> ile en düşük değerdir; modelin olumsuz yorumları tanıma konusunda daha zayıf olduğu görülmektedir.</a:t>
            </a:r>
            <a:endParaRPr sz="1300">
              <a:solidFill>
                <a:srgbClr val="CC4125"/>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b="1" lang="tr" sz="1300">
                <a:solidFill>
                  <a:srgbClr val="CC4125"/>
                </a:solidFill>
                <a:latin typeface="Times New Roman"/>
                <a:ea typeface="Times New Roman"/>
                <a:cs typeface="Times New Roman"/>
                <a:sym typeface="Times New Roman"/>
              </a:rPr>
              <a:t> Genel Başarı:</a:t>
            </a:r>
            <a:endParaRPr b="1" sz="1300">
              <a:solidFill>
                <a:srgbClr val="CC4125"/>
              </a:solidFill>
              <a:latin typeface="Times New Roman"/>
              <a:ea typeface="Times New Roman"/>
              <a:cs typeface="Times New Roman"/>
              <a:sym typeface="Times New Roman"/>
            </a:endParaRPr>
          </a:p>
          <a:p>
            <a:pPr indent="-311150" lvl="0" marL="457200" rtl="0" algn="l">
              <a:lnSpc>
                <a:spcPct val="115000"/>
              </a:lnSpc>
              <a:spcBef>
                <a:spcPts val="1200"/>
              </a:spcBef>
              <a:spcAft>
                <a:spcPts val="0"/>
              </a:spcAft>
              <a:buClr>
                <a:srgbClr val="CC4125"/>
              </a:buClr>
              <a:buSzPts val="1300"/>
              <a:buChar char="●"/>
            </a:pPr>
            <a:r>
              <a:rPr b="1" lang="tr" sz="1300">
                <a:solidFill>
                  <a:srgbClr val="CC4125"/>
                </a:solidFill>
                <a:latin typeface="Times New Roman"/>
                <a:ea typeface="Times New Roman"/>
                <a:cs typeface="Times New Roman"/>
                <a:sym typeface="Times New Roman"/>
              </a:rPr>
              <a:t>Accuracy (Doğruluk)</a:t>
            </a:r>
            <a:r>
              <a:rPr lang="tr" sz="1300">
                <a:solidFill>
                  <a:srgbClr val="CC4125"/>
                </a:solidFill>
                <a:latin typeface="Times New Roman"/>
                <a:ea typeface="Times New Roman"/>
                <a:cs typeface="Times New Roman"/>
                <a:sym typeface="Times New Roman"/>
              </a:rPr>
              <a:t>: %68</a:t>
            </a:r>
            <a:endParaRPr sz="1300">
              <a:solidFill>
                <a:srgbClr val="CC4125"/>
              </a:solidFill>
              <a:latin typeface="Times New Roman"/>
              <a:ea typeface="Times New Roman"/>
              <a:cs typeface="Times New Roman"/>
              <a:sym typeface="Times New Roman"/>
            </a:endParaRPr>
          </a:p>
          <a:p>
            <a:pPr indent="-311150" lvl="0" marL="457200" rtl="0" algn="l">
              <a:lnSpc>
                <a:spcPct val="115000"/>
              </a:lnSpc>
              <a:spcBef>
                <a:spcPts val="0"/>
              </a:spcBef>
              <a:spcAft>
                <a:spcPts val="0"/>
              </a:spcAft>
              <a:buClr>
                <a:srgbClr val="CC4125"/>
              </a:buClr>
              <a:buSzPts val="1300"/>
              <a:buChar char="●"/>
            </a:pPr>
            <a:r>
              <a:rPr b="1" lang="tr" sz="1300">
                <a:solidFill>
                  <a:srgbClr val="CC4125"/>
                </a:solidFill>
                <a:latin typeface="Times New Roman"/>
                <a:ea typeface="Times New Roman"/>
                <a:cs typeface="Times New Roman"/>
                <a:sym typeface="Times New Roman"/>
              </a:rPr>
              <a:t>Macro F1 Skor</a:t>
            </a:r>
            <a:r>
              <a:rPr lang="tr" sz="1300">
                <a:solidFill>
                  <a:srgbClr val="CC4125"/>
                </a:solidFill>
                <a:latin typeface="Times New Roman"/>
                <a:ea typeface="Times New Roman"/>
                <a:cs typeface="Times New Roman"/>
                <a:sym typeface="Times New Roman"/>
              </a:rPr>
              <a:t>: %69</a:t>
            </a:r>
            <a:endParaRPr sz="1300">
              <a:solidFill>
                <a:srgbClr val="CC4125"/>
              </a:solidFill>
              <a:latin typeface="Times New Roman"/>
              <a:ea typeface="Times New Roman"/>
              <a:cs typeface="Times New Roman"/>
              <a:sym typeface="Times New Roman"/>
            </a:endParaRPr>
          </a:p>
          <a:p>
            <a:pPr indent="0" lvl="0" marL="0" rtl="0" algn="l">
              <a:lnSpc>
                <a:spcPct val="115000"/>
              </a:lnSpc>
              <a:spcBef>
                <a:spcPts val="1200"/>
              </a:spcBef>
              <a:spcAft>
                <a:spcPts val="1200"/>
              </a:spcAft>
              <a:buNone/>
            </a:pPr>
            <a:r>
              <a:rPr lang="tr" sz="1300">
                <a:solidFill>
                  <a:srgbClr val="CC4125"/>
                </a:solidFill>
                <a:latin typeface="Times New Roman"/>
                <a:ea typeface="Times New Roman"/>
                <a:cs typeface="Times New Roman"/>
                <a:sym typeface="Times New Roman"/>
              </a:rPr>
              <a:t>Bu sonuçlar, modele CNN katmanlarının eklenmesinin pozitif yorumlarda başarıyı artırdığını, ancak nötr ve negatif yorumlar için performansın yeterince güçlü olmadığını göstermektedir.</a:t>
            </a:r>
            <a:endParaRPr sz="1300">
              <a:solidFill>
                <a:srgbClr val="CC4125"/>
              </a:solidFill>
              <a:latin typeface="Times New Roman"/>
              <a:ea typeface="Times New Roman"/>
              <a:cs typeface="Times New Roman"/>
              <a:sym typeface="Times New Roman"/>
            </a:endParaRPr>
          </a:p>
        </p:txBody>
      </p:sp>
      <p:sp>
        <p:nvSpPr>
          <p:cNvPr id="231" name="Google Shape;231;p38"/>
          <p:cNvSpPr/>
          <p:nvPr/>
        </p:nvSpPr>
        <p:spPr>
          <a:xfrm>
            <a:off x="4526900" y="2612725"/>
            <a:ext cx="286800" cy="491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Open Sans"/>
              <a:ea typeface="Open Sans"/>
              <a:cs typeface="Open Sans"/>
              <a:sym typeface="Open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tr"/>
              <a:t>LSTM MODELLERİ KARŞILAŞTIRMA GRAFİKLERİ</a:t>
            </a:r>
            <a:endParaRPr/>
          </a:p>
        </p:txBody>
      </p:sp>
      <p:sp>
        <p:nvSpPr>
          <p:cNvPr id="237" name="Google Shape;237;p3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200">
              <a:latin typeface="Times New Roman"/>
              <a:ea typeface="Times New Roman"/>
              <a:cs typeface="Times New Roman"/>
              <a:sym typeface="Times New Roman"/>
            </a:endParaRPr>
          </a:p>
        </p:txBody>
      </p:sp>
      <p:pic>
        <p:nvPicPr>
          <p:cNvPr id="238" name="Google Shape;238;p39"/>
          <p:cNvPicPr preferRelativeResize="0"/>
          <p:nvPr/>
        </p:nvPicPr>
        <p:blipFill>
          <a:blip r:embed="rId3">
            <a:alphaModFix/>
          </a:blip>
          <a:stretch>
            <a:fillRect/>
          </a:stretch>
        </p:blipFill>
        <p:spPr>
          <a:xfrm>
            <a:off x="405775" y="1317100"/>
            <a:ext cx="4225624" cy="2909450"/>
          </a:xfrm>
          <a:prstGeom prst="rect">
            <a:avLst/>
          </a:prstGeom>
          <a:noFill/>
          <a:ln>
            <a:noFill/>
          </a:ln>
        </p:spPr>
      </p:pic>
      <p:pic>
        <p:nvPicPr>
          <p:cNvPr id="239" name="Google Shape;239;p39"/>
          <p:cNvPicPr preferRelativeResize="0"/>
          <p:nvPr/>
        </p:nvPicPr>
        <p:blipFill>
          <a:blip r:embed="rId4">
            <a:alphaModFix/>
          </a:blip>
          <a:stretch>
            <a:fillRect/>
          </a:stretch>
        </p:blipFill>
        <p:spPr>
          <a:xfrm>
            <a:off x="4758625" y="1317100"/>
            <a:ext cx="3826726" cy="28554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D6F5EF"/>
            </a:gs>
            <a:gs pos="100000">
              <a:srgbClr val="73D6C1"/>
            </a:gs>
          </a:gsLst>
          <a:lin ang="5400012" scaled="0"/>
        </a:gradFill>
      </p:bgPr>
    </p:bg>
    <p:spTree>
      <p:nvGrpSpPr>
        <p:cNvPr id="243" name="Shape 243"/>
        <p:cNvGrpSpPr/>
        <p:nvPr/>
      </p:nvGrpSpPr>
      <p:grpSpPr>
        <a:xfrm>
          <a:off x="0" y="0"/>
          <a:ext cx="0" cy="0"/>
          <a:chOff x="0" y="0"/>
          <a:chExt cx="0" cy="0"/>
        </a:xfrm>
      </p:grpSpPr>
      <p:sp>
        <p:nvSpPr>
          <p:cNvPr id="244" name="Google Shape;244;p40"/>
          <p:cNvSpPr txBox="1"/>
          <p:nvPr>
            <p:ph type="title"/>
          </p:nvPr>
        </p:nvSpPr>
        <p:spPr>
          <a:xfrm>
            <a:off x="362925" y="2472925"/>
            <a:ext cx="8520600" cy="7074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tr">
                <a:solidFill>
                  <a:srgbClr val="EF6C00"/>
                </a:solidFill>
              </a:rPr>
              <a:t>TEŞEKKÜRLER</a:t>
            </a:r>
            <a:endParaRPr>
              <a:solidFill>
                <a:srgbClr val="EF6C00"/>
              </a:solidFill>
            </a:endParaRPr>
          </a:p>
          <a:p>
            <a:pPr indent="0" lvl="0" marL="0" rtl="0" algn="l">
              <a:spcBef>
                <a:spcPts val="0"/>
              </a:spcBef>
              <a:spcAft>
                <a:spcPts val="0"/>
              </a:spcAft>
              <a:buNone/>
            </a:pPr>
            <a:r>
              <a:t/>
            </a:r>
            <a:endParaRPr>
              <a:solidFill>
                <a:srgbClr val="EF6C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